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0:30
Script:
This project asks a simple question: if I generate several summary candidates and then choose among them more carefully, can I make the final summary more factual? On this bounded XSum study, the answer was yes. I improved factuality meaningfully with reranking, while accepting a modest drop in ROUGE. The core pipeline was: fine-tune BART, generate beam candidates, score them with factuality signals, and then pick the best operating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0:35
Script:
Before the results, here are the few terms that matter. XSum is a news summarization benchmark where the target is a single very short summary sentence. Beam search just means the model generates several plausible summaries instead of only one. Reranking means I score those candidates again after generation and choose the one that looks best under my scoring rule. ROUGE is a wording-overlap metric with the reference summary, so it is useful, but it does not directly tell us whether the summary is actually true. The point of this project was not to invent a new model family. It was to test whether better selection improves groundedness.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0:50
Script:
XSum is a hard factuality setting because it rewards aggressive compression. The summaries are short and often very fluent, but that fluency can hide unsupported facts, wrong entities, or incorrect relations. My baseline here is the public BART XSum model using normal beam-search decoding. So the question is not whether a different generator wins. The question is whether reranking can trade a small amount of ROUGE for meaningfully stronger factuality. I treated success as a higher factuality composite on the bounded test split while reporting the ROUGE cost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Script:
This slide shows the full method. Starting on the left, I materialize the bounded XSum split and fine-tune BART, while keeping the public baseline for comparison. Then I generate multiple beam candidate summaries for each article. The lower box is the factuality-scoring module that scores every candidate on support, consistency, and entity grounding. I then run weight search on the validation split to find a good operating point, and I evaluate that chosen setting once on test and in the audit. The important point is that the intervention happens after generation. I am not replacing the summarizer. I am choosing among its candidates more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
Script:
Here is the main result. The baseline factuality composite was 0.331, and the reranked system increased that to 0.434. At the same time, ROUGE-Lsum went from 0.359 to 0.339, so the trade-off was about minus 0.02 ROUGE for plus 0.103 factuality. I want to be explicit that this was a deliberate operating-point choice, not an accident. On the frontier, I selected a point near the high-factuality knee rather than the highest-ROUGE corner. The bootstrap intervals were also directionally stable, which gave me more confidence that this was a real bounded improvement. A bounded MiniCheck check on the qualitative subset moved in the same direction, so the result is not resting on only one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0:55
Script:
I also wanted to understand what still goes wrong. I did a 24-example stratified qualitative review with Codex and AI-assisted expert adjudication. The outcome split was balanced between reranker wins, baseline wins, and ties or close calls, but the dominant remaining error type was entity distortion. In other words, the system is still most vulnerable when a named entity is wrong, swapped, or unsupported. This also matches the refinement result in the report: adding entity support helped, but only modestly. So the conclusion is not that factuality is solved. The conclusion is that reranking helps overall, but entity grounding remains the main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0:45
Script:
I want to end on three points. First, a lightweight reranker materially improved factuality on this bounded XSum run. Second, the main limitation is still entity-level error, especially when all of the beam candidates drift toward the same wrong fact. Third, the most promising next step is to increase candidate diversity and add stronger entity-preservation constraints. So the short version of the project is: reranking helps, but entity grounding is still the hardest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0:05
Script: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Liberation Sans"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Liberation Sans"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Liberation Sans"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Liberation Sans"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Liberation Sans"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Liberation Sans"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Liberation Sans"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Liberation Sans"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Liberation Sans"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bjorn/repos/berkeley/factuality-rerank-xsum/docs/final-report/slides/assets/berkeley_cover.png">    </p:cNvPr>
          <p:cNvPicPr>
            <a:picLocks noChangeAspect="1"/>
          </p:cNvPicPr>
          <p:nvPr/>
        </p:nvPicPr>
        <p:blipFill>
          <a:blip r:embed="rId1"/>
          <a:srcRect l="1" r="1" t="0" b="0"/>
          <a:stretch/>
        </p:blipFill>
        <p:spPr>
          <a:xfrm>
            <a:off x="0" y="0"/>
            <a:ext cx="12191695" cy="6858000"/>
          </a:xfrm>
          <a:prstGeom prst="rect">
            <a:avLst/>
          </a:prstGeom>
        </p:spPr>
      </p:pic>
      <p:sp>
        <p:nvSpPr>
          <p:cNvPr id="3" name="Text 0"/>
          <p:cNvSpPr/>
          <p:nvPr/>
        </p:nvSpPr>
        <p:spPr>
          <a:xfrm>
            <a:off x="658368" y="658368"/>
            <a:ext cx="2834640" cy="182880"/>
          </a:xfrm>
          <a:prstGeom prst="rect">
            <a:avLst/>
          </a:prstGeom>
          <a:noFill/>
          <a:ln/>
        </p:spPr>
        <p:txBody>
          <a:bodyPr wrap="square" lIns="0" tIns="0" rIns="0" bIns="0" rtlCol="0" anchor="ctr"/>
          <a:lstStyle/>
          <a:p>
            <a:pPr indent="0" marL="0">
              <a:buNone/>
            </a:pPr>
            <a:r>
              <a:rPr lang="en-US" sz="1100" b="1" dirty="0">
                <a:solidFill>
                  <a:srgbClr val="FDB515"/>
                </a:solidFill>
                <a:latin typeface="Liberation Sans" pitchFamily="34" charset="0"/>
                <a:ea typeface="Liberation Sans" pitchFamily="34" charset="-122"/>
                <a:cs typeface="Liberation Sans" pitchFamily="34" charset="-120"/>
              </a:rPr>
              <a:t>DS266 FINAL PROJECT</a:t>
            </a:r>
            <a:endParaRPr lang="en-US" sz="1100" dirty="0"/>
          </a:p>
        </p:txBody>
      </p:sp>
      <p:sp>
        <p:nvSpPr>
          <p:cNvPr id="4" name="Text 1"/>
          <p:cNvSpPr/>
          <p:nvPr/>
        </p:nvSpPr>
        <p:spPr>
          <a:xfrm>
            <a:off x="658368" y="914400"/>
            <a:ext cx="5120640" cy="1234440"/>
          </a:xfrm>
          <a:prstGeom prst="rect">
            <a:avLst/>
          </a:prstGeom>
          <a:noFill/>
          <a:ln/>
        </p:spPr>
        <p:txBody>
          <a:bodyPr wrap="square" lIns="0" tIns="0" rIns="0" bIns="0" rtlCol="0" anchor="ctr"/>
          <a:lstStyle/>
          <a:p>
            <a:pPr indent="0" marL="0">
              <a:buNone/>
            </a:pPr>
            <a:r>
              <a:rPr lang="en-US" sz="2800" b="1" dirty="0">
                <a:solidFill>
                  <a:srgbClr val="FFFFFF"/>
                </a:solidFill>
                <a:latin typeface="Liberation Sans" pitchFamily="34" charset="0"/>
                <a:ea typeface="Liberation Sans" pitchFamily="34" charset="-122"/>
                <a:cs typeface="Liberation Sans" pitchFamily="34" charset="-120"/>
              </a:rPr>
              <a:t>Reranking Improves</a:t>
            </a:r>
            <a:endParaRPr lang="en-US" sz="2800" dirty="0"/>
          </a:p>
          <a:p>
            <a:pPr indent="0" marL="0">
              <a:buNone/>
            </a:pPr>
            <a:r>
              <a:rPr lang="en-US" sz="2800" b="1" dirty="0">
                <a:solidFill>
                  <a:srgbClr val="FFFFFF"/>
                </a:solidFill>
                <a:latin typeface="Liberation Sans" pitchFamily="34" charset="0"/>
                <a:ea typeface="Liberation Sans" pitchFamily="34" charset="-122"/>
                <a:cs typeface="Liberation Sans" pitchFamily="34" charset="-120"/>
              </a:rPr>
              <a:t>Factuality on XSum</a:t>
            </a:r>
            <a:endParaRPr lang="en-US" sz="2800" dirty="0"/>
          </a:p>
        </p:txBody>
      </p:sp>
      <p:sp>
        <p:nvSpPr>
          <p:cNvPr id="5" name="Text 2"/>
          <p:cNvSpPr/>
          <p:nvPr/>
        </p:nvSpPr>
        <p:spPr>
          <a:xfrm>
            <a:off x="658368" y="2304288"/>
            <a:ext cx="5029200" cy="274320"/>
          </a:xfrm>
          <a:prstGeom prst="rect">
            <a:avLst/>
          </a:prstGeom>
          <a:noFill/>
          <a:ln/>
        </p:spPr>
        <p:txBody>
          <a:bodyPr wrap="square" lIns="0" tIns="0" rIns="0" bIns="0" rtlCol="0" anchor="ctr"/>
          <a:lstStyle/>
          <a:p>
            <a:pPr indent="0" marL="0">
              <a:buNone/>
            </a:pPr>
            <a:r>
              <a:rPr lang="en-US" sz="1500" i="1" dirty="0">
                <a:solidFill>
                  <a:srgbClr val="FFFFFF"/>
                </a:solidFill>
                <a:latin typeface="Liberation Sans" pitchFamily="34" charset="0"/>
                <a:ea typeface="Liberation Sans" pitchFamily="34" charset="-122"/>
                <a:cs typeface="Liberation Sans" pitchFamily="34" charset="-120"/>
              </a:rPr>
              <a:t>Factuality-aware reranking for extreme summarization</a:t>
            </a:r>
            <a:endParaRPr lang="en-US" sz="1500" dirty="0"/>
          </a:p>
        </p:txBody>
      </p:sp>
      <p:sp>
        <p:nvSpPr>
          <p:cNvPr id="6" name="Shape 3"/>
          <p:cNvSpPr/>
          <p:nvPr/>
        </p:nvSpPr>
        <p:spPr>
          <a:xfrm>
            <a:off x="658368" y="2724912"/>
            <a:ext cx="2011680" cy="0"/>
          </a:xfrm>
          <a:prstGeom prst="line">
            <a:avLst/>
          </a:prstGeom>
          <a:noFill/>
          <a:ln w="20320">
            <a:solidFill>
              <a:srgbClr val="FDB515"/>
            </a:solidFill>
            <a:prstDash val="solid"/>
          </a:ln>
        </p:spPr>
      </p:sp>
      <p:sp>
        <p:nvSpPr>
          <p:cNvPr id="7" name="Text 4"/>
          <p:cNvSpPr/>
          <p:nvPr/>
        </p:nvSpPr>
        <p:spPr>
          <a:xfrm>
            <a:off x="658368" y="2889504"/>
            <a:ext cx="5623560" cy="475488"/>
          </a:xfrm>
          <a:prstGeom prst="rect">
            <a:avLst/>
          </a:prstGeom>
          <a:noFill/>
          <a:ln/>
        </p:spPr>
        <p:txBody>
          <a:bodyPr wrap="square" lIns="0" tIns="0" rIns="0" bIns="0" rtlCol="0" anchor="ctr"/>
          <a:lstStyle/>
          <a:p>
            <a:pPr indent="0" marL="0">
              <a:buNone/>
            </a:pPr>
            <a:r>
              <a:rPr lang="en-US" sz="1350" dirty="0">
                <a:solidFill>
                  <a:srgbClr val="FFFFFF"/>
                </a:solidFill>
                <a:latin typeface="Liberation Sans" pitchFamily="34" charset="0"/>
                <a:ea typeface="Liberation Sans" pitchFamily="34" charset="-122"/>
                <a:cs typeface="Liberation Sans" pitchFamily="34" charset="-120"/>
              </a:rPr>
              <a:t>Bounded study: fine-tuned BART, beam candidates, and post-generation reranking</a:t>
            </a:r>
            <a:endParaRPr lang="en-US" sz="1350" dirty="0"/>
          </a:p>
        </p:txBody>
      </p:sp>
      <p:sp>
        <p:nvSpPr>
          <p:cNvPr id="8" name="Text 5"/>
          <p:cNvSpPr/>
          <p:nvPr/>
        </p:nvSpPr>
        <p:spPr>
          <a:xfrm>
            <a:off x="658368" y="4370832"/>
            <a:ext cx="3566160" cy="640080"/>
          </a:xfrm>
          <a:prstGeom prst="rect">
            <a:avLst/>
          </a:prstGeom>
          <a:noFill/>
          <a:ln/>
        </p:spPr>
        <p:txBody>
          <a:bodyPr wrap="square" lIns="0" tIns="0" rIns="0" bIns="0" rtlCol="0" anchor="ctr"/>
          <a:lstStyle/>
          <a:p>
            <a:pPr indent="0" marL="0">
              <a:buNone/>
            </a:pPr>
            <a:r>
              <a:rPr lang="en-US" sz="1400" dirty="0">
                <a:solidFill>
                  <a:srgbClr val="FFFFFF"/>
                </a:solidFill>
                <a:latin typeface="Liberation Sans" pitchFamily="34" charset="0"/>
                <a:ea typeface="Liberation Sans" pitchFamily="34" charset="-122"/>
                <a:cs typeface="Liberation Sans" pitchFamily="34" charset="-120"/>
              </a:rPr>
              <a:t>Bjorn Melin</a:t>
            </a:r>
            <a:endParaRPr lang="en-US" sz="1400" dirty="0"/>
          </a:p>
          <a:p>
            <a:pPr indent="0" marL="0">
              <a:buNone/>
            </a:pPr>
            <a:r>
              <a:rPr lang="en-US" sz="1400" dirty="0">
                <a:solidFill>
                  <a:srgbClr val="FFFFFF"/>
                </a:solidFill>
                <a:latin typeface="Liberation Sans" pitchFamily="34" charset="0"/>
                <a:ea typeface="Liberation Sans" pitchFamily="34" charset="-122"/>
                <a:cs typeface="Liberation Sans" pitchFamily="34" charset="-120"/>
              </a:rPr>
              <a:t>UC Berkeley School of Information</a:t>
            </a:r>
            <a:endParaRPr lang="en-US" sz="1400" dirty="0"/>
          </a:p>
          <a:p>
            <a:pPr indent="0" marL="0">
              <a:buNone/>
            </a:pPr>
            <a:r>
              <a:rPr lang="en-US" sz="1400" dirty="0">
                <a:solidFill>
                  <a:srgbClr val="FFFFFF"/>
                </a:solidFill>
                <a:latin typeface="Liberation Sans" pitchFamily="34" charset="0"/>
                <a:ea typeface="Liberation Sans" pitchFamily="34" charset="-122"/>
                <a:cs typeface="Liberation Sans" pitchFamily="34" charset="-120"/>
              </a:rPr>
              <a:t>April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84048"/>
            <a:ext cx="2377440"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CONTEXT</a:t>
            </a:r>
            <a:endParaRPr lang="en-US" sz="1100" dirty="0"/>
          </a:p>
        </p:txBody>
      </p:sp>
      <p:sp>
        <p:nvSpPr>
          <p:cNvPr id="3" name="Text 1"/>
          <p:cNvSpPr/>
          <p:nvPr/>
        </p:nvSpPr>
        <p:spPr>
          <a:xfrm>
            <a:off x="621792" y="603504"/>
            <a:ext cx="10607040" cy="475488"/>
          </a:xfrm>
          <a:prstGeom prst="rect">
            <a:avLst/>
          </a:prstGeom>
          <a:noFill/>
          <a:ln/>
        </p:spPr>
        <p:txBody>
          <a:bodyPr wrap="square" lIns="0" tIns="0" rIns="0" bIns="0" rtlCol="0" anchor="ctr"/>
          <a:lstStyle/>
          <a:p>
            <a:pPr indent="0" marL="0">
              <a:buNone/>
            </a:pPr>
            <a:r>
              <a:rPr lang="en-US" sz="2400" b="1" dirty="0">
                <a:solidFill>
                  <a:srgbClr val="003262"/>
                </a:solidFill>
                <a:latin typeface="Liberation Sans" pitchFamily="34" charset="0"/>
                <a:ea typeface="Liberation Sans" pitchFamily="34" charset="-122"/>
                <a:cs typeface="Liberation Sans" pitchFamily="34" charset="-120"/>
              </a:rPr>
              <a:t>What this project is actually doing</a:t>
            </a:r>
            <a:endParaRPr lang="en-US" sz="2400" dirty="0"/>
          </a:p>
        </p:txBody>
      </p:sp>
      <p:sp>
        <p:nvSpPr>
          <p:cNvPr id="4" name="Shape 2"/>
          <p:cNvSpPr/>
          <p:nvPr/>
        </p:nvSpPr>
        <p:spPr>
          <a:xfrm>
            <a:off x="621792" y="1207008"/>
            <a:ext cx="10835640" cy="0"/>
          </a:xfrm>
          <a:prstGeom prst="line">
            <a:avLst/>
          </a:prstGeom>
          <a:noFill/>
          <a:ln w="15240">
            <a:solidFill>
              <a:srgbClr val="FDB515"/>
            </a:solidFill>
            <a:prstDash val="solid"/>
          </a:ln>
        </p:spPr>
      </p:sp>
      <p:sp>
        <p:nvSpPr>
          <p:cNvPr id="5" name="Text 3"/>
          <p:cNvSpPr/>
          <p:nvPr/>
        </p:nvSpPr>
        <p:spPr>
          <a:xfrm>
            <a:off x="621792" y="1280160"/>
            <a:ext cx="10332720" cy="310896"/>
          </a:xfrm>
          <a:prstGeom prst="rect">
            <a:avLst/>
          </a:prstGeom>
          <a:noFill/>
          <a:ln/>
        </p:spPr>
        <p:txBody>
          <a:bodyPr wrap="square" lIns="0" tIns="0" rIns="0" bIns="0" rtlCol="0" anchor="ctr"/>
          <a:lstStyle/>
          <a:p>
            <a:pPr indent="0" marL="0">
              <a:buNone/>
            </a:pPr>
            <a:r>
              <a:rPr lang="en-US" sz="1300" i="1" dirty="0">
                <a:solidFill>
                  <a:srgbClr val="5F6B78"/>
                </a:solidFill>
                <a:latin typeface="Liberation Sans" pitchFamily="34" charset="0"/>
                <a:ea typeface="Liberation Sans" pitchFamily="34" charset="-122"/>
                <a:cs typeface="Liberation Sans" pitchFamily="34" charset="-120"/>
              </a:rPr>
              <a:t>A few quick terms make the rest of the talk easier to follow.</a:t>
            </a:r>
            <a:endParaRPr lang="en-US" sz="1300" dirty="0"/>
          </a:p>
        </p:txBody>
      </p:sp>
      <p:pic>
        <p:nvPicPr>
          <p:cNvPr id="6" name="Image 0" descr="/home/bjorn/repos/berkeley/factuality-rerank-xsum/docs/final-report/slides/assets/berkeley_soi_logo.png">    </p:cNvPr>
          <p:cNvPicPr>
            <a:picLocks noChangeAspect="1"/>
          </p:cNvPicPr>
          <p:nvPr/>
        </p:nvPicPr>
        <p:blipFill>
          <a:blip r:embed="rId1"/>
          <a:stretch>
            <a:fillRect/>
          </a:stretch>
        </p:blipFill>
        <p:spPr>
          <a:xfrm>
            <a:off x="386979" y="6327648"/>
            <a:ext cx="1594338" cy="310896"/>
          </a:xfrm>
          <a:prstGeom prst="rect">
            <a:avLst/>
          </a:prstGeom>
        </p:spPr>
      </p:pic>
      <p:sp>
        <p:nvSpPr>
          <p:cNvPr id="7" name="Text 4"/>
          <p:cNvSpPr/>
          <p:nvPr/>
        </p:nvSpPr>
        <p:spPr>
          <a:xfrm>
            <a:off x="11292840" y="6336792"/>
            <a:ext cx="411480" cy="164592"/>
          </a:xfrm>
          <a:prstGeom prst="rect">
            <a:avLst/>
          </a:prstGeom>
          <a:noFill/>
          <a:ln/>
        </p:spPr>
        <p:txBody>
          <a:bodyPr wrap="square" lIns="0" tIns="0" rIns="0" bIns="0" rtlCol="0" anchor="ctr"/>
          <a:lstStyle/>
          <a:p>
            <a:pPr algn="r" indent="0" marL="0">
              <a:buNone/>
            </a:pPr>
            <a:r>
              <a:rPr lang="en-US" sz="1000" dirty="0">
                <a:solidFill>
                  <a:srgbClr val="5F6B78"/>
                </a:solidFill>
                <a:latin typeface="Liberation Sans" pitchFamily="34" charset="0"/>
                <a:ea typeface="Liberation Sans" pitchFamily="34" charset="-122"/>
                <a:cs typeface="Liberation Sans" pitchFamily="34" charset="-120"/>
              </a:rPr>
              <a:t>2</a:t>
            </a:r>
            <a:endParaRPr lang="en-US" sz="1000" dirty="0"/>
          </a:p>
        </p:txBody>
      </p:sp>
      <p:sp>
        <p:nvSpPr>
          <p:cNvPr id="8" name="Text 5"/>
          <p:cNvSpPr/>
          <p:nvPr/>
        </p:nvSpPr>
        <p:spPr>
          <a:xfrm>
            <a:off x="713232" y="1783080"/>
            <a:ext cx="4480560" cy="3200400"/>
          </a:xfrm>
          <a:prstGeom prst="rect">
            <a:avLst/>
          </a:prstGeom>
          <a:noFill/>
          <a:ln/>
        </p:spPr>
        <p:txBody>
          <a:bodyPr wrap="square" lIns="0" tIns="0" rIns="0" bIns="0" rtlCol="0" anchor="t"/>
          <a:lstStyle/>
          <a:p>
            <a:pPr marL="203200" indent="-203200">
              <a:buSzPct val="100000"/>
              <a:buChar char="•"/>
            </a:pPr>
            <a:r>
              <a:rPr lang="en-US" sz="1730" dirty="0">
                <a:solidFill>
                  <a:srgbClr val="243746"/>
                </a:solidFill>
                <a:latin typeface="Liberation Sans" pitchFamily="34" charset="0"/>
                <a:ea typeface="Liberation Sans" pitchFamily="34" charset="-122"/>
                <a:cs typeface="Liberation Sans" pitchFamily="34" charset="-120"/>
              </a:rPr>
              <a:t>Start with one article and generate several possible summaries instead of trusting only the single top-likelihood output.</a:t>
            </a:r>
            <a:endParaRPr lang="en-US" sz="1730" dirty="0"/>
          </a:p>
          <a:p>
            <a:pPr marL="203200" indent="-203200">
              <a:buSzPct val="100000"/>
              <a:buChar char="•"/>
            </a:pPr>
            <a:r>
              <a:rPr lang="en-US" sz="1730" dirty="0">
                <a:solidFill>
                  <a:srgbClr val="243746"/>
                </a:solidFill>
                <a:latin typeface="Liberation Sans" pitchFamily="34" charset="0"/>
                <a:ea typeface="Liberation Sans" pitchFamily="34" charset="-122"/>
                <a:cs typeface="Liberation Sans" pitchFamily="34" charset="-120"/>
              </a:rPr>
              <a:t>Score those candidates with factuality-oriented signals, then choose the best validation operating point.</a:t>
            </a:r>
            <a:endParaRPr lang="en-US" sz="1730" dirty="0"/>
          </a:p>
          <a:p>
            <a:pPr marL="203200" indent="-203200">
              <a:buSzPct val="100000"/>
              <a:buChar char="•"/>
            </a:pPr>
            <a:r>
              <a:rPr lang="en-US" sz="1730" dirty="0">
                <a:solidFill>
                  <a:srgbClr val="243746"/>
                </a:solidFill>
                <a:latin typeface="Liberation Sans" pitchFamily="34" charset="0"/>
                <a:ea typeface="Liberation Sans" pitchFamily="34" charset="-122"/>
                <a:cs typeface="Liberation Sans" pitchFamily="34" charset="-120"/>
              </a:rPr>
              <a:t>The goal is not a new model family; it is testing whether better selection improves groundedness.</a:t>
            </a:r>
            <a:endParaRPr lang="en-US" sz="1730" dirty="0"/>
          </a:p>
        </p:txBody>
      </p:sp>
      <p:sp>
        <p:nvSpPr>
          <p:cNvPr id="9" name="Shape 6"/>
          <p:cNvSpPr/>
          <p:nvPr/>
        </p:nvSpPr>
        <p:spPr>
          <a:xfrm>
            <a:off x="5486400" y="1755648"/>
            <a:ext cx="2697480" cy="1170432"/>
          </a:xfrm>
          <a:prstGeom prst="roundRect">
            <a:avLst>
              <a:gd name="adj" fmla="val 4688"/>
            </a:avLst>
          </a:prstGeom>
          <a:solidFill>
            <a:srgbClr val="FFFFFF"/>
          </a:solidFill>
          <a:ln w="12700">
            <a:solidFill>
              <a:srgbClr val="D9E0E7"/>
            </a:solidFill>
            <a:prstDash val="solid"/>
          </a:ln>
        </p:spPr>
      </p:sp>
      <p:sp>
        <p:nvSpPr>
          <p:cNvPr id="10" name="Text 7"/>
          <p:cNvSpPr/>
          <p:nvPr/>
        </p:nvSpPr>
        <p:spPr>
          <a:xfrm>
            <a:off x="5650992" y="1883664"/>
            <a:ext cx="23682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XSum</a:t>
            </a:r>
            <a:endParaRPr lang="en-US" sz="1100" dirty="0"/>
          </a:p>
        </p:txBody>
      </p:sp>
      <p:sp>
        <p:nvSpPr>
          <p:cNvPr id="11" name="Text 8"/>
          <p:cNvSpPr/>
          <p:nvPr/>
        </p:nvSpPr>
        <p:spPr>
          <a:xfrm>
            <a:off x="5650992" y="2084832"/>
            <a:ext cx="2368296" cy="713232"/>
          </a:xfrm>
          <a:prstGeom prst="rect">
            <a:avLst/>
          </a:prstGeom>
          <a:noFill/>
          <a:ln/>
        </p:spPr>
        <p:txBody>
          <a:bodyPr wrap="square" lIns="0" tIns="0" rIns="0" bIns="0" rtlCol="0" anchor="ctr"/>
          <a:lstStyle/>
          <a:p>
            <a:pPr indent="0" marL="0">
              <a:buNone/>
            </a:pPr>
            <a:r>
              <a:rPr lang="en-US" sz="1350" dirty="0">
                <a:solidFill>
                  <a:srgbClr val="243746"/>
                </a:solidFill>
                <a:latin typeface="Liberation Sans" pitchFamily="34" charset="0"/>
                <a:ea typeface="Liberation Sans" pitchFamily="34" charset="-122"/>
                <a:cs typeface="Liberation Sans" pitchFamily="34" charset="-120"/>
              </a:rPr>
              <a:t>Single-sentence news summarization benchmark with aggressive compression.</a:t>
            </a:r>
            <a:endParaRPr lang="en-US" sz="1350" dirty="0"/>
          </a:p>
        </p:txBody>
      </p:sp>
      <p:sp>
        <p:nvSpPr>
          <p:cNvPr id="12" name="Shape 9"/>
          <p:cNvSpPr/>
          <p:nvPr/>
        </p:nvSpPr>
        <p:spPr>
          <a:xfrm>
            <a:off x="8458200" y="1755648"/>
            <a:ext cx="2697480" cy="1335024"/>
          </a:xfrm>
          <a:prstGeom prst="roundRect">
            <a:avLst>
              <a:gd name="adj" fmla="val 4110"/>
            </a:avLst>
          </a:prstGeom>
          <a:solidFill>
            <a:srgbClr val="FFFFFF"/>
          </a:solidFill>
          <a:ln w="12700">
            <a:solidFill>
              <a:srgbClr val="D9E0E7"/>
            </a:solidFill>
            <a:prstDash val="solid"/>
          </a:ln>
        </p:spPr>
      </p:sp>
      <p:sp>
        <p:nvSpPr>
          <p:cNvPr id="13" name="Text 10"/>
          <p:cNvSpPr/>
          <p:nvPr/>
        </p:nvSpPr>
        <p:spPr>
          <a:xfrm>
            <a:off x="8622792" y="1883664"/>
            <a:ext cx="23682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Beam search</a:t>
            </a:r>
            <a:endParaRPr lang="en-US" sz="1100" dirty="0"/>
          </a:p>
        </p:txBody>
      </p:sp>
      <p:sp>
        <p:nvSpPr>
          <p:cNvPr id="14" name="Text 11"/>
          <p:cNvSpPr/>
          <p:nvPr/>
        </p:nvSpPr>
        <p:spPr>
          <a:xfrm>
            <a:off x="8622792" y="2084832"/>
            <a:ext cx="2368296" cy="877824"/>
          </a:xfrm>
          <a:prstGeom prst="rect">
            <a:avLst/>
          </a:prstGeom>
          <a:noFill/>
          <a:ln/>
        </p:spPr>
        <p:txBody>
          <a:bodyPr wrap="square" lIns="0" tIns="0" rIns="0" bIns="0" rtlCol="0" anchor="ctr"/>
          <a:lstStyle/>
          <a:p>
            <a:pPr indent="0" marL="0">
              <a:buNone/>
            </a:pPr>
            <a:r>
              <a:rPr lang="en-US" sz="1290" dirty="0">
                <a:solidFill>
                  <a:srgbClr val="243746"/>
                </a:solidFill>
                <a:latin typeface="Liberation Sans" pitchFamily="34" charset="0"/>
                <a:ea typeface="Liberation Sans" pitchFamily="34" charset="-122"/>
                <a:cs typeface="Liberation Sans" pitchFamily="34" charset="-120"/>
              </a:rPr>
              <a:t>A decoding method that keeps several likely next-word paths, giving multiple candidate summaries.</a:t>
            </a:r>
            <a:endParaRPr lang="en-US" sz="1290" dirty="0"/>
          </a:p>
        </p:txBody>
      </p:sp>
      <p:sp>
        <p:nvSpPr>
          <p:cNvPr id="15" name="Shape 12"/>
          <p:cNvSpPr/>
          <p:nvPr/>
        </p:nvSpPr>
        <p:spPr>
          <a:xfrm>
            <a:off x="5486400" y="3346704"/>
            <a:ext cx="2697480" cy="1353312"/>
          </a:xfrm>
          <a:prstGeom prst="roundRect">
            <a:avLst>
              <a:gd name="adj" fmla="val 4054"/>
            </a:avLst>
          </a:prstGeom>
          <a:solidFill>
            <a:srgbClr val="F7F9FB"/>
          </a:solidFill>
          <a:ln w="12700">
            <a:solidFill>
              <a:srgbClr val="D9E0E7"/>
            </a:solidFill>
            <a:prstDash val="solid"/>
          </a:ln>
        </p:spPr>
      </p:sp>
      <p:sp>
        <p:nvSpPr>
          <p:cNvPr id="16" name="Text 13"/>
          <p:cNvSpPr/>
          <p:nvPr/>
        </p:nvSpPr>
        <p:spPr>
          <a:xfrm>
            <a:off x="5650992" y="3474720"/>
            <a:ext cx="23682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Reranking</a:t>
            </a:r>
            <a:endParaRPr lang="en-US" sz="1100" dirty="0"/>
          </a:p>
        </p:txBody>
      </p:sp>
      <p:sp>
        <p:nvSpPr>
          <p:cNvPr id="17" name="Text 14"/>
          <p:cNvSpPr/>
          <p:nvPr/>
        </p:nvSpPr>
        <p:spPr>
          <a:xfrm>
            <a:off x="5650992" y="3675888"/>
            <a:ext cx="2368296" cy="896112"/>
          </a:xfrm>
          <a:prstGeom prst="rect">
            <a:avLst/>
          </a:prstGeom>
          <a:noFill/>
          <a:ln/>
        </p:spPr>
        <p:txBody>
          <a:bodyPr wrap="square" lIns="0" tIns="0" rIns="0" bIns="0" rtlCol="0" anchor="ctr"/>
          <a:lstStyle/>
          <a:p>
            <a:pPr indent="0" marL="0">
              <a:buNone/>
            </a:pPr>
            <a:r>
              <a:rPr lang="en-US" sz="1320" dirty="0">
                <a:solidFill>
                  <a:srgbClr val="243746"/>
                </a:solidFill>
                <a:latin typeface="Liberation Sans" pitchFamily="34" charset="0"/>
                <a:ea typeface="Liberation Sans" pitchFamily="34" charset="-122"/>
                <a:cs typeface="Liberation Sans" pitchFamily="34" charset="-120"/>
              </a:rPr>
              <a:t>Post-generation selection: choose among candidates using extra scores after decoding.</a:t>
            </a:r>
            <a:endParaRPr lang="en-US" sz="1320" dirty="0"/>
          </a:p>
        </p:txBody>
      </p:sp>
      <p:sp>
        <p:nvSpPr>
          <p:cNvPr id="18" name="Shape 15"/>
          <p:cNvSpPr/>
          <p:nvPr/>
        </p:nvSpPr>
        <p:spPr>
          <a:xfrm>
            <a:off x="8458200" y="3346704"/>
            <a:ext cx="2697480" cy="1353312"/>
          </a:xfrm>
          <a:prstGeom prst="roundRect">
            <a:avLst>
              <a:gd name="adj" fmla="val 4054"/>
            </a:avLst>
          </a:prstGeom>
          <a:solidFill>
            <a:srgbClr val="F7F9FB"/>
          </a:solidFill>
          <a:ln w="12700">
            <a:solidFill>
              <a:srgbClr val="D9E0E7"/>
            </a:solidFill>
            <a:prstDash val="solid"/>
          </a:ln>
        </p:spPr>
      </p:sp>
      <p:sp>
        <p:nvSpPr>
          <p:cNvPr id="19" name="Text 16"/>
          <p:cNvSpPr/>
          <p:nvPr/>
        </p:nvSpPr>
        <p:spPr>
          <a:xfrm>
            <a:off x="8622792" y="3474720"/>
            <a:ext cx="23682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ROUGE</a:t>
            </a:r>
            <a:endParaRPr lang="en-US" sz="1100" dirty="0"/>
          </a:p>
        </p:txBody>
      </p:sp>
      <p:sp>
        <p:nvSpPr>
          <p:cNvPr id="20" name="Text 17"/>
          <p:cNvSpPr/>
          <p:nvPr/>
        </p:nvSpPr>
        <p:spPr>
          <a:xfrm>
            <a:off x="8622792" y="3675888"/>
            <a:ext cx="2368296" cy="896112"/>
          </a:xfrm>
          <a:prstGeom prst="rect">
            <a:avLst/>
          </a:prstGeom>
          <a:noFill/>
          <a:ln/>
        </p:spPr>
        <p:txBody>
          <a:bodyPr wrap="square" lIns="0" tIns="0" rIns="0" bIns="0" rtlCol="0" anchor="ctr"/>
          <a:lstStyle/>
          <a:p>
            <a:pPr indent="0" marL="0">
              <a:buNone/>
            </a:pPr>
            <a:r>
              <a:rPr lang="en-US" sz="1260" dirty="0">
                <a:solidFill>
                  <a:srgbClr val="243746"/>
                </a:solidFill>
                <a:latin typeface="Liberation Sans" pitchFamily="34" charset="0"/>
                <a:ea typeface="Liberation Sans" pitchFamily="34" charset="-122"/>
                <a:cs typeface="Liberation Sans" pitchFamily="34" charset="-120"/>
              </a:rPr>
              <a:t>An overlap metric: it rewards wording similarity to the reference summary, not factual correctness by itself.</a:t>
            </a:r>
            <a:endParaRPr lang="en-US" sz="1260" dirty="0"/>
          </a:p>
        </p:txBody>
      </p:sp>
      <p:sp>
        <p:nvSpPr>
          <p:cNvPr id="21" name="Shape 18"/>
          <p:cNvSpPr/>
          <p:nvPr/>
        </p:nvSpPr>
        <p:spPr>
          <a:xfrm>
            <a:off x="5486400" y="4992624"/>
            <a:ext cx="5669280" cy="804672"/>
          </a:xfrm>
          <a:prstGeom prst="roundRect">
            <a:avLst>
              <a:gd name="adj" fmla="val 6818"/>
            </a:avLst>
          </a:prstGeom>
          <a:solidFill>
            <a:srgbClr val="FFFFFF"/>
          </a:solidFill>
          <a:ln w="12700">
            <a:solidFill>
              <a:srgbClr val="D9E0E7"/>
            </a:solidFill>
            <a:prstDash val="solid"/>
          </a:ln>
        </p:spPr>
      </p:sp>
      <p:sp>
        <p:nvSpPr>
          <p:cNvPr id="22" name="Text 19"/>
          <p:cNvSpPr/>
          <p:nvPr/>
        </p:nvSpPr>
        <p:spPr>
          <a:xfrm>
            <a:off x="5650992" y="5120640"/>
            <a:ext cx="53400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Why this matters</a:t>
            </a:r>
            <a:endParaRPr lang="en-US" sz="1100" dirty="0"/>
          </a:p>
        </p:txBody>
      </p:sp>
      <p:sp>
        <p:nvSpPr>
          <p:cNvPr id="23" name="Text 20"/>
          <p:cNvSpPr/>
          <p:nvPr/>
        </p:nvSpPr>
        <p:spPr>
          <a:xfrm>
            <a:off x="5650992" y="5321808"/>
            <a:ext cx="5340096" cy="347472"/>
          </a:xfrm>
          <a:prstGeom prst="rect">
            <a:avLst/>
          </a:prstGeom>
          <a:noFill/>
          <a:ln/>
        </p:spPr>
        <p:txBody>
          <a:bodyPr wrap="square" lIns="0" tIns="0" rIns="0" bIns="0" rtlCol="0" anchor="ctr"/>
          <a:lstStyle/>
          <a:p>
            <a:pPr indent="0" marL="0">
              <a:buNone/>
            </a:pPr>
            <a:r>
              <a:rPr lang="en-US" sz="1320" dirty="0">
                <a:solidFill>
                  <a:srgbClr val="243746"/>
                </a:solidFill>
                <a:latin typeface="Liberation Sans" pitchFamily="34" charset="0"/>
                <a:ea typeface="Liberation Sans" pitchFamily="34" charset="-122"/>
                <a:cs typeface="Liberation Sans" pitchFamily="34" charset="-120"/>
              </a:rPr>
              <a:t>If reranking works, factual quality can improve without replacing the generator itself.</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84048"/>
            <a:ext cx="2377440"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PROBLEM</a:t>
            </a:r>
            <a:endParaRPr lang="en-US" sz="1100" dirty="0"/>
          </a:p>
        </p:txBody>
      </p:sp>
      <p:sp>
        <p:nvSpPr>
          <p:cNvPr id="3" name="Text 1"/>
          <p:cNvSpPr/>
          <p:nvPr/>
        </p:nvSpPr>
        <p:spPr>
          <a:xfrm>
            <a:off x="621792" y="603504"/>
            <a:ext cx="10607040" cy="475488"/>
          </a:xfrm>
          <a:prstGeom prst="rect">
            <a:avLst/>
          </a:prstGeom>
          <a:noFill/>
          <a:ln/>
        </p:spPr>
        <p:txBody>
          <a:bodyPr wrap="square" lIns="0" tIns="0" rIns="0" bIns="0" rtlCol="0" anchor="ctr"/>
          <a:lstStyle/>
          <a:p>
            <a:pPr indent="0" marL="0">
              <a:buNone/>
            </a:pPr>
            <a:r>
              <a:rPr lang="en-US" sz="2400" b="1" dirty="0">
                <a:solidFill>
                  <a:srgbClr val="003262"/>
                </a:solidFill>
                <a:latin typeface="Liberation Sans" pitchFamily="34" charset="0"/>
                <a:ea typeface="Liberation Sans" pitchFamily="34" charset="-122"/>
                <a:cs typeface="Liberation Sans" pitchFamily="34" charset="-120"/>
              </a:rPr>
              <a:t>Why fluent XSum summaries can still be wrong</a:t>
            </a:r>
            <a:endParaRPr lang="en-US" sz="2400" dirty="0"/>
          </a:p>
        </p:txBody>
      </p:sp>
      <p:sp>
        <p:nvSpPr>
          <p:cNvPr id="4" name="Shape 2"/>
          <p:cNvSpPr/>
          <p:nvPr/>
        </p:nvSpPr>
        <p:spPr>
          <a:xfrm>
            <a:off x="621792" y="1207008"/>
            <a:ext cx="10835640" cy="0"/>
          </a:xfrm>
          <a:prstGeom prst="line">
            <a:avLst/>
          </a:prstGeom>
          <a:noFill/>
          <a:ln w="15240">
            <a:solidFill>
              <a:srgbClr val="FDB515"/>
            </a:solidFill>
            <a:prstDash val="solid"/>
          </a:ln>
        </p:spPr>
      </p:sp>
      <p:sp>
        <p:nvSpPr>
          <p:cNvPr id="5" name="Text 3"/>
          <p:cNvSpPr/>
          <p:nvPr/>
        </p:nvSpPr>
        <p:spPr>
          <a:xfrm>
            <a:off x="621792" y="1280160"/>
            <a:ext cx="10332720" cy="310896"/>
          </a:xfrm>
          <a:prstGeom prst="rect">
            <a:avLst/>
          </a:prstGeom>
          <a:noFill/>
          <a:ln/>
        </p:spPr>
        <p:txBody>
          <a:bodyPr wrap="square" lIns="0" tIns="0" rIns="0" bIns="0" rtlCol="0" anchor="ctr"/>
          <a:lstStyle/>
          <a:p>
            <a:pPr indent="0" marL="0">
              <a:buNone/>
            </a:pPr>
            <a:r>
              <a:rPr lang="en-US" sz="1300" i="1" dirty="0">
                <a:solidFill>
                  <a:srgbClr val="5F6B78"/>
                </a:solidFill>
                <a:latin typeface="Liberation Sans" pitchFamily="34" charset="0"/>
                <a:ea typeface="Liberation Sans" pitchFamily="34" charset="-122"/>
                <a:cs typeface="Liberation Sans" pitchFamily="34" charset="-120"/>
              </a:rPr>
              <a:t>The goal was better factual support without hiding the overlap trade-off.</a:t>
            </a:r>
            <a:endParaRPr lang="en-US" sz="1300" dirty="0"/>
          </a:p>
        </p:txBody>
      </p:sp>
      <p:pic>
        <p:nvPicPr>
          <p:cNvPr id="6" name="Image 0" descr="/home/bjorn/repos/berkeley/factuality-rerank-xsum/docs/final-report/slides/assets/berkeley_soi_logo.png">    </p:cNvPr>
          <p:cNvPicPr>
            <a:picLocks noChangeAspect="1"/>
          </p:cNvPicPr>
          <p:nvPr/>
        </p:nvPicPr>
        <p:blipFill>
          <a:blip r:embed="rId1"/>
          <a:stretch>
            <a:fillRect/>
          </a:stretch>
        </p:blipFill>
        <p:spPr>
          <a:xfrm>
            <a:off x="386979" y="6327648"/>
            <a:ext cx="1594338" cy="310896"/>
          </a:xfrm>
          <a:prstGeom prst="rect">
            <a:avLst/>
          </a:prstGeom>
        </p:spPr>
      </p:pic>
      <p:sp>
        <p:nvSpPr>
          <p:cNvPr id="7" name="Text 4"/>
          <p:cNvSpPr/>
          <p:nvPr/>
        </p:nvSpPr>
        <p:spPr>
          <a:xfrm>
            <a:off x="11292840" y="6336792"/>
            <a:ext cx="411480" cy="164592"/>
          </a:xfrm>
          <a:prstGeom prst="rect">
            <a:avLst/>
          </a:prstGeom>
          <a:noFill/>
          <a:ln/>
        </p:spPr>
        <p:txBody>
          <a:bodyPr wrap="square" lIns="0" tIns="0" rIns="0" bIns="0" rtlCol="0" anchor="ctr"/>
          <a:lstStyle/>
          <a:p>
            <a:pPr algn="r" indent="0" marL="0">
              <a:buNone/>
            </a:pPr>
            <a:r>
              <a:rPr lang="en-US" sz="1000" dirty="0">
                <a:solidFill>
                  <a:srgbClr val="5F6B78"/>
                </a:solidFill>
                <a:latin typeface="Liberation Sans" pitchFamily="34" charset="0"/>
                <a:ea typeface="Liberation Sans" pitchFamily="34" charset="-122"/>
                <a:cs typeface="Liberation Sans" pitchFamily="34" charset="-120"/>
              </a:rPr>
              <a:t>3</a:t>
            </a:r>
            <a:endParaRPr lang="en-US" sz="1000" dirty="0"/>
          </a:p>
        </p:txBody>
      </p:sp>
      <p:sp>
        <p:nvSpPr>
          <p:cNvPr id="8" name="Text 5"/>
          <p:cNvSpPr/>
          <p:nvPr/>
        </p:nvSpPr>
        <p:spPr>
          <a:xfrm>
            <a:off x="713232" y="1783080"/>
            <a:ext cx="5486400" cy="3246120"/>
          </a:xfrm>
          <a:prstGeom prst="rect">
            <a:avLst/>
          </a:prstGeom>
          <a:noFill/>
          <a:ln/>
        </p:spPr>
        <p:txBody>
          <a:bodyPr wrap="square" lIns="0" tIns="0" rIns="0" bIns="0" rtlCol="0" anchor="t"/>
          <a:lstStyle/>
          <a:p>
            <a:pPr marL="203200" indent="-203200">
              <a:buSzPct val="100000"/>
              <a:buChar char="•"/>
            </a:pPr>
            <a:r>
              <a:rPr lang="en-US" sz="1780" dirty="0">
                <a:solidFill>
                  <a:srgbClr val="243746"/>
                </a:solidFill>
                <a:latin typeface="Liberation Sans" pitchFamily="34" charset="0"/>
                <a:ea typeface="Liberation Sans" pitchFamily="34" charset="-122"/>
                <a:cs typeface="Liberation Sans" pitchFamily="34" charset="-120"/>
              </a:rPr>
              <a:t>XSum rewards extreme compression, so fluent summaries can still insert unsupported entities or relations.</a:t>
            </a:r>
            <a:endParaRPr lang="en-US" sz="1780" dirty="0"/>
          </a:p>
          <a:p>
            <a:pPr marL="203200" indent="-203200">
              <a:buSzPct val="100000"/>
              <a:buChar char="•"/>
            </a:pPr>
            <a:r>
              <a:rPr lang="en-US" sz="1780" dirty="0">
                <a:solidFill>
                  <a:srgbClr val="243746"/>
                </a:solidFill>
                <a:latin typeface="Liberation Sans" pitchFamily="34" charset="0"/>
                <a:ea typeface="Liberation Sans" pitchFamily="34" charset="-122"/>
                <a:cs typeface="Liberation Sans" pitchFamily="34" charset="-120"/>
              </a:rPr>
              <a:t>ROUGE captures overlap, but not whether a claim is actually grounded in the source article.</a:t>
            </a:r>
            <a:endParaRPr lang="en-US" sz="1780" dirty="0"/>
          </a:p>
          <a:p>
            <a:pPr marL="203200" indent="-203200">
              <a:buSzPct val="100000"/>
              <a:buChar char="•"/>
            </a:pPr>
            <a:r>
              <a:rPr lang="en-US" sz="1780" dirty="0">
                <a:solidFill>
                  <a:srgbClr val="243746"/>
                </a:solidFill>
                <a:latin typeface="Liberation Sans" pitchFamily="34" charset="0"/>
                <a:ea typeface="Liberation Sans" pitchFamily="34" charset="-122"/>
                <a:cs typeface="Liberation Sans" pitchFamily="34" charset="-120"/>
              </a:rPr>
              <a:t>The baseline is the public BART XSum model, so the gain comes from selection rather than a different generator.</a:t>
            </a:r>
            <a:endParaRPr lang="en-US" sz="1780" dirty="0"/>
          </a:p>
        </p:txBody>
      </p:sp>
      <p:sp>
        <p:nvSpPr>
          <p:cNvPr id="9" name="Shape 6"/>
          <p:cNvSpPr/>
          <p:nvPr/>
        </p:nvSpPr>
        <p:spPr>
          <a:xfrm>
            <a:off x="6720840" y="1755648"/>
            <a:ext cx="4709160" cy="1133856"/>
          </a:xfrm>
          <a:prstGeom prst="roundRect">
            <a:avLst>
              <a:gd name="adj" fmla="val 4839"/>
            </a:avLst>
          </a:prstGeom>
          <a:solidFill>
            <a:srgbClr val="FFFFFF"/>
          </a:solidFill>
          <a:ln w="12700">
            <a:solidFill>
              <a:srgbClr val="D9E0E7"/>
            </a:solidFill>
            <a:prstDash val="solid"/>
          </a:ln>
        </p:spPr>
      </p:sp>
      <p:sp>
        <p:nvSpPr>
          <p:cNvPr id="10" name="Text 7"/>
          <p:cNvSpPr/>
          <p:nvPr/>
        </p:nvSpPr>
        <p:spPr>
          <a:xfrm>
            <a:off x="6885432" y="1883664"/>
            <a:ext cx="437997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Research question</a:t>
            </a:r>
            <a:endParaRPr lang="en-US" sz="1100" dirty="0"/>
          </a:p>
        </p:txBody>
      </p:sp>
      <p:sp>
        <p:nvSpPr>
          <p:cNvPr id="11" name="Text 8"/>
          <p:cNvSpPr/>
          <p:nvPr/>
        </p:nvSpPr>
        <p:spPr>
          <a:xfrm>
            <a:off x="6885432" y="2084832"/>
            <a:ext cx="4379976" cy="676656"/>
          </a:xfrm>
          <a:prstGeom prst="rect">
            <a:avLst/>
          </a:prstGeom>
          <a:noFill/>
          <a:ln/>
        </p:spPr>
        <p:txBody>
          <a:bodyPr wrap="square" lIns="0" tIns="0" rIns="0" bIns="0" rtlCol="0" anchor="ctr"/>
          <a:lstStyle/>
          <a:p>
            <a:pPr indent="0" marL="0">
              <a:buNone/>
            </a:pPr>
            <a:r>
              <a:rPr lang="en-US" sz="1500" b="1" dirty="0">
                <a:solidFill>
                  <a:srgbClr val="243746"/>
                </a:solidFill>
                <a:latin typeface="Liberation Sans" pitchFamily="34" charset="0"/>
                <a:ea typeface="Liberation Sans" pitchFamily="34" charset="-122"/>
                <a:cs typeface="Liberation Sans" pitchFamily="34" charset="-120"/>
              </a:rPr>
              <a:t>Can reranking trade a little ROUGE for meaningfully stronger factuality?</a:t>
            </a:r>
            <a:endParaRPr lang="en-US" sz="1500" dirty="0"/>
          </a:p>
        </p:txBody>
      </p:sp>
      <p:sp>
        <p:nvSpPr>
          <p:cNvPr id="12" name="Shape 9"/>
          <p:cNvSpPr/>
          <p:nvPr/>
        </p:nvSpPr>
        <p:spPr>
          <a:xfrm>
            <a:off x="6720840" y="3054096"/>
            <a:ext cx="2240280" cy="1325880"/>
          </a:xfrm>
          <a:prstGeom prst="roundRect">
            <a:avLst>
              <a:gd name="adj" fmla="val 4138"/>
            </a:avLst>
          </a:prstGeom>
          <a:solidFill>
            <a:srgbClr val="F7F9FB"/>
          </a:solidFill>
          <a:ln w="12700">
            <a:solidFill>
              <a:srgbClr val="D9E0E7"/>
            </a:solidFill>
            <a:prstDash val="solid"/>
          </a:ln>
        </p:spPr>
      </p:sp>
      <p:sp>
        <p:nvSpPr>
          <p:cNvPr id="13" name="Text 10"/>
          <p:cNvSpPr/>
          <p:nvPr/>
        </p:nvSpPr>
        <p:spPr>
          <a:xfrm>
            <a:off x="6885432" y="3182112"/>
            <a:ext cx="19110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Baseline</a:t>
            </a:r>
            <a:endParaRPr lang="en-US" sz="1100" dirty="0"/>
          </a:p>
        </p:txBody>
      </p:sp>
      <p:sp>
        <p:nvSpPr>
          <p:cNvPr id="14" name="Text 11"/>
          <p:cNvSpPr/>
          <p:nvPr/>
        </p:nvSpPr>
        <p:spPr>
          <a:xfrm>
            <a:off x="6885432" y="3383280"/>
            <a:ext cx="1911096" cy="868680"/>
          </a:xfrm>
          <a:prstGeom prst="rect">
            <a:avLst/>
          </a:prstGeom>
          <a:noFill/>
          <a:ln/>
        </p:spPr>
        <p:txBody>
          <a:bodyPr wrap="square" lIns="0" tIns="0" rIns="0" bIns="0" rtlCol="0" anchor="ctr"/>
          <a:lstStyle/>
          <a:p>
            <a:pPr indent="0" marL="0">
              <a:buNone/>
            </a:pPr>
            <a:r>
              <a:rPr lang="en-US" sz="1400" dirty="0">
                <a:solidFill>
                  <a:srgbClr val="243746"/>
                </a:solidFill>
                <a:latin typeface="Liberation Sans" pitchFamily="34" charset="0"/>
                <a:ea typeface="Liberation Sans" pitchFamily="34" charset="-122"/>
                <a:cs typeface="Liberation Sans" pitchFamily="34" charset="-120"/>
              </a:rPr>
              <a:t>Public BART baseline</a:t>
            </a:r>
            <a:endParaRPr lang="en-US" sz="1400" dirty="0"/>
          </a:p>
          <a:p>
            <a:pPr indent="0" marL="0">
              <a:buNone/>
            </a:pPr>
            <a:r>
              <a:rPr lang="en-US" sz="1400" dirty="0">
                <a:solidFill>
                  <a:srgbClr val="243746"/>
                </a:solidFill>
                <a:latin typeface="Liberation Sans" pitchFamily="34" charset="0"/>
                <a:ea typeface="Liberation Sans" pitchFamily="34" charset="-122"/>
                <a:cs typeface="Liberation Sans" pitchFamily="34" charset="-120"/>
              </a:rPr>
              <a:t>beam search only</a:t>
            </a:r>
            <a:endParaRPr lang="en-US" sz="1400" dirty="0"/>
          </a:p>
          <a:p>
            <a:pPr indent="0" marL="0">
              <a:buNone/>
            </a:pPr>
            <a:r>
              <a:rPr lang="en-US" sz="1400" dirty="0">
                <a:solidFill>
                  <a:srgbClr val="243746"/>
                </a:solidFill>
                <a:latin typeface="Liberation Sans" pitchFamily="34" charset="0"/>
                <a:ea typeface="Liberation Sans" pitchFamily="34" charset="-122"/>
                <a:cs typeface="Liberation Sans" pitchFamily="34" charset="-120"/>
              </a:rPr>
              <a:t>no factuality fusion</a:t>
            </a:r>
            <a:endParaRPr lang="en-US" sz="1400" dirty="0"/>
          </a:p>
        </p:txBody>
      </p:sp>
      <p:sp>
        <p:nvSpPr>
          <p:cNvPr id="15" name="Shape 12"/>
          <p:cNvSpPr/>
          <p:nvPr/>
        </p:nvSpPr>
        <p:spPr>
          <a:xfrm>
            <a:off x="9189720" y="3054096"/>
            <a:ext cx="2240280" cy="1325880"/>
          </a:xfrm>
          <a:prstGeom prst="roundRect">
            <a:avLst>
              <a:gd name="adj" fmla="val 4138"/>
            </a:avLst>
          </a:prstGeom>
          <a:solidFill>
            <a:srgbClr val="F7F9FB"/>
          </a:solidFill>
          <a:ln w="12700">
            <a:solidFill>
              <a:srgbClr val="D9E0E7"/>
            </a:solidFill>
            <a:prstDash val="solid"/>
          </a:ln>
        </p:spPr>
      </p:sp>
      <p:sp>
        <p:nvSpPr>
          <p:cNvPr id="16" name="Text 13"/>
          <p:cNvSpPr/>
          <p:nvPr/>
        </p:nvSpPr>
        <p:spPr>
          <a:xfrm>
            <a:off x="9354312" y="3182112"/>
            <a:ext cx="19110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Scope</a:t>
            </a:r>
            <a:endParaRPr lang="en-US" sz="1100" dirty="0"/>
          </a:p>
        </p:txBody>
      </p:sp>
      <p:sp>
        <p:nvSpPr>
          <p:cNvPr id="17" name="Text 14"/>
          <p:cNvSpPr/>
          <p:nvPr/>
        </p:nvSpPr>
        <p:spPr>
          <a:xfrm>
            <a:off x="9354312" y="3383280"/>
            <a:ext cx="1911096" cy="868680"/>
          </a:xfrm>
          <a:prstGeom prst="rect">
            <a:avLst/>
          </a:prstGeom>
          <a:noFill/>
          <a:ln/>
        </p:spPr>
        <p:txBody>
          <a:bodyPr wrap="square" lIns="0" tIns="0" rIns="0" bIns="0" rtlCol="0" anchor="ctr"/>
          <a:lstStyle/>
          <a:p>
            <a:pPr indent="0" marL="0">
              <a:buNone/>
            </a:pPr>
            <a:r>
              <a:rPr lang="en-US" sz="1400" b="1" dirty="0">
                <a:solidFill>
                  <a:srgbClr val="243746"/>
                </a:solidFill>
                <a:latin typeface="Liberation Sans" pitchFamily="34" charset="0"/>
                <a:ea typeface="Liberation Sans" pitchFamily="34" charset="-122"/>
                <a:cs typeface="Liberation Sans" pitchFamily="34" charset="-120"/>
              </a:rPr>
              <a:t>train 128</a:t>
            </a:r>
            <a:endParaRPr lang="en-US" sz="1400" dirty="0"/>
          </a:p>
          <a:p>
            <a:pPr indent="0" marL="0">
              <a:buNone/>
            </a:pPr>
            <a:r>
              <a:rPr lang="en-US" sz="1400" b="1" dirty="0">
                <a:solidFill>
                  <a:srgbClr val="243746"/>
                </a:solidFill>
                <a:latin typeface="Liberation Sans" pitchFamily="34" charset="0"/>
                <a:ea typeface="Liberation Sans" pitchFamily="34" charset="-122"/>
                <a:cs typeface="Liberation Sans" pitchFamily="34" charset="-120"/>
              </a:rPr>
              <a:t>val 64 / 128</a:t>
            </a:r>
            <a:endParaRPr lang="en-US" sz="1400" dirty="0"/>
          </a:p>
          <a:p>
            <a:pPr indent="0" marL="0">
              <a:buNone/>
            </a:pPr>
            <a:r>
              <a:rPr lang="en-US" sz="1400" b="1" dirty="0">
                <a:solidFill>
                  <a:srgbClr val="243746"/>
                </a:solidFill>
                <a:latin typeface="Liberation Sans" pitchFamily="34" charset="0"/>
                <a:ea typeface="Liberation Sans" pitchFamily="34" charset="-122"/>
                <a:cs typeface="Liberation Sans" pitchFamily="34" charset="-120"/>
              </a:rPr>
              <a:t>test 128</a:t>
            </a:r>
            <a:endParaRPr lang="en-US" sz="1400" dirty="0"/>
          </a:p>
          <a:p>
            <a:pPr indent="0" marL="0">
              <a:buNone/>
            </a:pPr>
            <a:r>
              <a:rPr lang="en-US" sz="1400" b="1" dirty="0">
                <a:solidFill>
                  <a:srgbClr val="243746"/>
                </a:solidFill>
                <a:latin typeface="Liberation Sans" pitchFamily="34" charset="0"/>
                <a:ea typeface="Liberation Sans" pitchFamily="34" charset="-122"/>
                <a:cs typeface="Liberation Sans" pitchFamily="34" charset="-120"/>
              </a:rPr>
              <a:t>qualitative 24</a:t>
            </a:r>
            <a:endParaRPr lang="en-US" sz="1400" dirty="0"/>
          </a:p>
        </p:txBody>
      </p:sp>
      <p:sp>
        <p:nvSpPr>
          <p:cNvPr id="18" name="Shape 15"/>
          <p:cNvSpPr/>
          <p:nvPr/>
        </p:nvSpPr>
        <p:spPr>
          <a:xfrm>
            <a:off x="6720840" y="4590288"/>
            <a:ext cx="4709160" cy="1078992"/>
          </a:xfrm>
          <a:prstGeom prst="roundRect">
            <a:avLst>
              <a:gd name="adj" fmla="val 5085"/>
            </a:avLst>
          </a:prstGeom>
          <a:solidFill>
            <a:srgbClr val="F7F9FB"/>
          </a:solidFill>
          <a:ln w="12700">
            <a:solidFill>
              <a:srgbClr val="D9E0E7"/>
            </a:solidFill>
            <a:prstDash val="solid"/>
          </a:ln>
        </p:spPr>
      </p:sp>
      <p:sp>
        <p:nvSpPr>
          <p:cNvPr id="19" name="Text 16"/>
          <p:cNvSpPr/>
          <p:nvPr/>
        </p:nvSpPr>
        <p:spPr>
          <a:xfrm>
            <a:off x="6885432" y="4718304"/>
            <a:ext cx="437997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Success criterion</a:t>
            </a:r>
            <a:endParaRPr lang="en-US" sz="1100" dirty="0"/>
          </a:p>
        </p:txBody>
      </p:sp>
      <p:sp>
        <p:nvSpPr>
          <p:cNvPr id="20" name="Text 17"/>
          <p:cNvSpPr/>
          <p:nvPr/>
        </p:nvSpPr>
        <p:spPr>
          <a:xfrm>
            <a:off x="6885432" y="4919472"/>
            <a:ext cx="4379976" cy="621792"/>
          </a:xfrm>
          <a:prstGeom prst="rect">
            <a:avLst/>
          </a:prstGeom>
          <a:noFill/>
          <a:ln/>
        </p:spPr>
        <p:txBody>
          <a:bodyPr wrap="square" lIns="0" tIns="0" rIns="0" bIns="0" rtlCol="0" anchor="ctr"/>
          <a:lstStyle/>
          <a:p>
            <a:pPr indent="0" marL="0">
              <a:buNone/>
            </a:pPr>
            <a:r>
              <a:rPr lang="en-US" sz="1400" dirty="0">
                <a:solidFill>
                  <a:srgbClr val="243746"/>
                </a:solidFill>
                <a:latin typeface="Liberation Sans" pitchFamily="34" charset="0"/>
                <a:ea typeface="Liberation Sans" pitchFamily="34" charset="-122"/>
                <a:cs typeface="Liberation Sans" pitchFamily="34" charset="-120"/>
              </a:rPr>
              <a:t>Higher factuality composite on the bounded test split, with the ROUGE cost reported rather than hidden.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84048"/>
            <a:ext cx="2377440"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METHOD</a:t>
            </a:r>
            <a:endParaRPr lang="en-US" sz="1100" dirty="0"/>
          </a:p>
        </p:txBody>
      </p:sp>
      <p:sp>
        <p:nvSpPr>
          <p:cNvPr id="3" name="Text 1"/>
          <p:cNvSpPr/>
          <p:nvPr/>
        </p:nvSpPr>
        <p:spPr>
          <a:xfrm>
            <a:off x="621792" y="603504"/>
            <a:ext cx="10607040" cy="475488"/>
          </a:xfrm>
          <a:prstGeom prst="rect">
            <a:avLst/>
          </a:prstGeom>
          <a:noFill/>
          <a:ln/>
        </p:spPr>
        <p:txBody>
          <a:bodyPr wrap="square" lIns="0" tIns="0" rIns="0" bIns="0" rtlCol="0" anchor="ctr"/>
          <a:lstStyle/>
          <a:p>
            <a:pPr indent="0" marL="0">
              <a:buNone/>
            </a:pPr>
            <a:r>
              <a:rPr lang="en-US" sz="2400" b="1" dirty="0">
                <a:solidFill>
                  <a:srgbClr val="003262"/>
                </a:solidFill>
                <a:latin typeface="Liberation Sans" pitchFamily="34" charset="0"/>
                <a:ea typeface="Liberation Sans" pitchFamily="34" charset="-122"/>
                <a:cs typeface="Liberation Sans" pitchFamily="34" charset="-120"/>
              </a:rPr>
              <a:t>Generate candidates, score them, choose the operating point</a:t>
            </a:r>
            <a:endParaRPr lang="en-US" sz="2400" dirty="0"/>
          </a:p>
        </p:txBody>
      </p:sp>
      <p:sp>
        <p:nvSpPr>
          <p:cNvPr id="4" name="Shape 2"/>
          <p:cNvSpPr/>
          <p:nvPr/>
        </p:nvSpPr>
        <p:spPr>
          <a:xfrm>
            <a:off x="621792" y="1207008"/>
            <a:ext cx="10835640" cy="0"/>
          </a:xfrm>
          <a:prstGeom prst="line">
            <a:avLst/>
          </a:prstGeom>
          <a:noFill/>
          <a:ln w="15240">
            <a:solidFill>
              <a:srgbClr val="FDB515"/>
            </a:solidFill>
            <a:prstDash val="solid"/>
          </a:ln>
        </p:spPr>
      </p:sp>
      <p:sp>
        <p:nvSpPr>
          <p:cNvPr id="5" name="Text 3"/>
          <p:cNvSpPr/>
          <p:nvPr/>
        </p:nvSpPr>
        <p:spPr>
          <a:xfrm>
            <a:off x="621792" y="1280160"/>
            <a:ext cx="10332720" cy="310896"/>
          </a:xfrm>
          <a:prstGeom prst="rect">
            <a:avLst/>
          </a:prstGeom>
          <a:noFill/>
          <a:ln/>
        </p:spPr>
        <p:txBody>
          <a:bodyPr wrap="square" lIns="0" tIns="0" rIns="0" bIns="0" rtlCol="0" anchor="ctr"/>
          <a:lstStyle/>
          <a:p>
            <a:pPr indent="0" marL="0">
              <a:buNone/>
            </a:pPr>
            <a:r>
              <a:rPr lang="en-US" sz="1300" i="1" dirty="0">
                <a:solidFill>
                  <a:srgbClr val="5F6B78"/>
                </a:solidFill>
                <a:latin typeface="Liberation Sans" pitchFamily="34" charset="0"/>
                <a:ea typeface="Liberation Sans" pitchFamily="34" charset="-122"/>
                <a:cs typeface="Liberation Sans" pitchFamily="34" charset="-120"/>
              </a:rPr>
              <a:t>The method is intentionally simple: no new model family, just better candidate selection.</a:t>
            </a:r>
            <a:endParaRPr lang="en-US" sz="1300" dirty="0"/>
          </a:p>
        </p:txBody>
      </p:sp>
      <p:pic>
        <p:nvPicPr>
          <p:cNvPr id="6" name="Image 0" descr="/home/bjorn/repos/berkeley/factuality-rerank-xsum/docs/final-report/slides/assets/berkeley_soi_logo.png">    </p:cNvPr>
          <p:cNvPicPr>
            <a:picLocks noChangeAspect="1"/>
          </p:cNvPicPr>
          <p:nvPr/>
        </p:nvPicPr>
        <p:blipFill>
          <a:blip r:embed="rId1"/>
          <a:stretch>
            <a:fillRect/>
          </a:stretch>
        </p:blipFill>
        <p:spPr>
          <a:xfrm>
            <a:off x="386979" y="6327648"/>
            <a:ext cx="1594338" cy="310896"/>
          </a:xfrm>
          <a:prstGeom prst="rect">
            <a:avLst/>
          </a:prstGeom>
        </p:spPr>
      </p:pic>
      <p:sp>
        <p:nvSpPr>
          <p:cNvPr id="7" name="Text 4"/>
          <p:cNvSpPr/>
          <p:nvPr/>
        </p:nvSpPr>
        <p:spPr>
          <a:xfrm>
            <a:off x="11292840" y="6336792"/>
            <a:ext cx="411480" cy="164592"/>
          </a:xfrm>
          <a:prstGeom prst="rect">
            <a:avLst/>
          </a:prstGeom>
          <a:noFill/>
          <a:ln/>
        </p:spPr>
        <p:txBody>
          <a:bodyPr wrap="square" lIns="0" tIns="0" rIns="0" bIns="0" rtlCol="0" anchor="ctr"/>
          <a:lstStyle/>
          <a:p>
            <a:pPr algn="r" indent="0" marL="0">
              <a:buNone/>
            </a:pPr>
            <a:r>
              <a:rPr lang="en-US" sz="1000" dirty="0">
                <a:solidFill>
                  <a:srgbClr val="5F6B78"/>
                </a:solidFill>
                <a:latin typeface="Liberation Sans" pitchFamily="34" charset="0"/>
                <a:ea typeface="Liberation Sans" pitchFamily="34" charset="-122"/>
                <a:cs typeface="Liberation Sans" pitchFamily="34" charset="-120"/>
              </a:rPr>
              <a:t>4</a:t>
            </a:r>
            <a:endParaRPr lang="en-US" sz="1000" dirty="0"/>
          </a:p>
        </p:txBody>
      </p:sp>
      <p:sp>
        <p:nvSpPr>
          <p:cNvPr id="8" name="Shape 5"/>
          <p:cNvSpPr/>
          <p:nvPr/>
        </p:nvSpPr>
        <p:spPr>
          <a:xfrm>
            <a:off x="1389888" y="2075688"/>
            <a:ext cx="1682496" cy="804672"/>
          </a:xfrm>
          <a:prstGeom prst="roundRect">
            <a:avLst>
              <a:gd name="adj" fmla="val 6818"/>
            </a:avLst>
          </a:prstGeom>
          <a:solidFill>
            <a:srgbClr val="E8F1FB"/>
          </a:solidFill>
          <a:ln w="20320">
            <a:solidFill>
              <a:srgbClr val="003262"/>
            </a:solidFill>
            <a:prstDash val="solid"/>
          </a:ln>
        </p:spPr>
      </p:sp>
      <p:sp>
        <p:nvSpPr>
          <p:cNvPr id="9" name="Text 6"/>
          <p:cNvSpPr/>
          <p:nvPr/>
        </p:nvSpPr>
        <p:spPr>
          <a:xfrm>
            <a:off x="1517904" y="2240280"/>
            <a:ext cx="1426464" cy="548640"/>
          </a:xfrm>
          <a:prstGeom prst="rect">
            <a:avLst/>
          </a:prstGeom>
          <a:noFill/>
          <a:ln/>
        </p:spPr>
        <p:txBody>
          <a:bodyPr wrap="square" lIns="0" tIns="0" rIns="0" bIns="0" rtlCol="0" anchor="ctr"/>
          <a:lstStyle/>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XSum split</a:t>
            </a:r>
            <a:endParaRPr lang="en-US" sz="1350" dirty="0"/>
          </a:p>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materialization</a:t>
            </a:r>
            <a:endParaRPr lang="en-US" sz="1350" dirty="0"/>
          </a:p>
        </p:txBody>
      </p:sp>
      <p:sp>
        <p:nvSpPr>
          <p:cNvPr id="10" name="Shape 7"/>
          <p:cNvSpPr/>
          <p:nvPr/>
        </p:nvSpPr>
        <p:spPr>
          <a:xfrm>
            <a:off x="3511296" y="2075688"/>
            <a:ext cx="1993392" cy="804672"/>
          </a:xfrm>
          <a:prstGeom prst="roundRect">
            <a:avLst>
              <a:gd name="adj" fmla="val 6818"/>
            </a:avLst>
          </a:prstGeom>
          <a:solidFill>
            <a:srgbClr val="E8F1FB"/>
          </a:solidFill>
          <a:ln w="20320">
            <a:solidFill>
              <a:srgbClr val="003262"/>
            </a:solidFill>
            <a:prstDash val="solid"/>
          </a:ln>
        </p:spPr>
      </p:sp>
      <p:sp>
        <p:nvSpPr>
          <p:cNvPr id="11" name="Text 8"/>
          <p:cNvSpPr/>
          <p:nvPr/>
        </p:nvSpPr>
        <p:spPr>
          <a:xfrm>
            <a:off x="3639312" y="2240280"/>
            <a:ext cx="1737360" cy="548640"/>
          </a:xfrm>
          <a:prstGeom prst="rect">
            <a:avLst/>
          </a:prstGeom>
          <a:noFill/>
          <a:ln/>
        </p:spPr>
        <p:txBody>
          <a:bodyPr wrap="square" lIns="0" tIns="0" rIns="0" bIns="0" rtlCol="0" anchor="ctr"/>
          <a:lstStyle/>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Fine-tuned BART</a:t>
            </a:r>
            <a:endParaRPr lang="en-US" sz="1350" dirty="0"/>
          </a:p>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 public baseline</a:t>
            </a:r>
            <a:endParaRPr lang="en-US" sz="1350" dirty="0"/>
          </a:p>
        </p:txBody>
      </p:sp>
      <p:sp>
        <p:nvSpPr>
          <p:cNvPr id="12" name="Shape 9"/>
          <p:cNvSpPr/>
          <p:nvPr/>
        </p:nvSpPr>
        <p:spPr>
          <a:xfrm>
            <a:off x="5833872" y="2075688"/>
            <a:ext cx="1609344" cy="804672"/>
          </a:xfrm>
          <a:prstGeom prst="roundRect">
            <a:avLst>
              <a:gd name="adj" fmla="val 6818"/>
            </a:avLst>
          </a:prstGeom>
          <a:solidFill>
            <a:srgbClr val="E8F1FB"/>
          </a:solidFill>
          <a:ln w="20320">
            <a:solidFill>
              <a:srgbClr val="003262"/>
            </a:solidFill>
            <a:prstDash val="solid"/>
          </a:ln>
        </p:spPr>
      </p:sp>
      <p:sp>
        <p:nvSpPr>
          <p:cNvPr id="13" name="Text 10"/>
          <p:cNvSpPr/>
          <p:nvPr/>
        </p:nvSpPr>
        <p:spPr>
          <a:xfrm>
            <a:off x="5961888" y="2240280"/>
            <a:ext cx="1353312" cy="548640"/>
          </a:xfrm>
          <a:prstGeom prst="rect">
            <a:avLst/>
          </a:prstGeom>
          <a:noFill/>
          <a:ln/>
        </p:spPr>
        <p:txBody>
          <a:bodyPr wrap="square" lIns="0" tIns="0" rIns="0" bIns="0" rtlCol="0" anchor="ctr"/>
          <a:lstStyle/>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Beam candidate</a:t>
            </a:r>
            <a:endParaRPr lang="en-US" sz="1350" dirty="0"/>
          </a:p>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summaries</a:t>
            </a:r>
            <a:endParaRPr lang="en-US" sz="1350" dirty="0"/>
          </a:p>
        </p:txBody>
      </p:sp>
      <p:sp>
        <p:nvSpPr>
          <p:cNvPr id="14" name="Shape 11"/>
          <p:cNvSpPr/>
          <p:nvPr/>
        </p:nvSpPr>
        <p:spPr>
          <a:xfrm>
            <a:off x="7790688" y="2075688"/>
            <a:ext cx="1225296" cy="804672"/>
          </a:xfrm>
          <a:prstGeom prst="roundRect">
            <a:avLst>
              <a:gd name="adj" fmla="val 6818"/>
            </a:avLst>
          </a:prstGeom>
          <a:solidFill>
            <a:srgbClr val="FBECD9"/>
          </a:solidFill>
          <a:ln w="20320">
            <a:solidFill>
              <a:srgbClr val="003262"/>
            </a:solidFill>
            <a:prstDash val="solid"/>
          </a:ln>
        </p:spPr>
      </p:sp>
      <p:sp>
        <p:nvSpPr>
          <p:cNvPr id="15" name="Text 12"/>
          <p:cNvSpPr/>
          <p:nvPr/>
        </p:nvSpPr>
        <p:spPr>
          <a:xfrm>
            <a:off x="7918704" y="2240280"/>
            <a:ext cx="969264" cy="548640"/>
          </a:xfrm>
          <a:prstGeom prst="rect">
            <a:avLst/>
          </a:prstGeom>
          <a:noFill/>
          <a:ln/>
        </p:spPr>
        <p:txBody>
          <a:bodyPr wrap="square" lIns="0" tIns="0" rIns="0" bIns="0" rtlCol="0" anchor="ctr"/>
          <a:lstStyle/>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Weight</a:t>
            </a:r>
            <a:endParaRPr lang="en-US" sz="1350" dirty="0"/>
          </a:p>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search</a:t>
            </a:r>
            <a:endParaRPr lang="en-US" sz="1350" dirty="0"/>
          </a:p>
        </p:txBody>
      </p:sp>
      <p:sp>
        <p:nvSpPr>
          <p:cNvPr id="16" name="Shape 13"/>
          <p:cNvSpPr/>
          <p:nvPr/>
        </p:nvSpPr>
        <p:spPr>
          <a:xfrm>
            <a:off x="9326880" y="2075688"/>
            <a:ext cx="1152144" cy="804672"/>
          </a:xfrm>
          <a:prstGeom prst="roundRect">
            <a:avLst>
              <a:gd name="adj" fmla="val 6818"/>
            </a:avLst>
          </a:prstGeom>
          <a:solidFill>
            <a:srgbClr val="E8F6EC"/>
          </a:solidFill>
          <a:ln w="20320">
            <a:solidFill>
              <a:srgbClr val="003262"/>
            </a:solidFill>
            <a:prstDash val="solid"/>
          </a:ln>
        </p:spPr>
      </p:sp>
      <p:sp>
        <p:nvSpPr>
          <p:cNvPr id="17" name="Text 14"/>
          <p:cNvSpPr/>
          <p:nvPr/>
        </p:nvSpPr>
        <p:spPr>
          <a:xfrm>
            <a:off x="9454896" y="2240280"/>
            <a:ext cx="896112" cy="548640"/>
          </a:xfrm>
          <a:prstGeom prst="rect">
            <a:avLst/>
          </a:prstGeom>
          <a:noFill/>
          <a:ln/>
        </p:spPr>
        <p:txBody>
          <a:bodyPr wrap="square" lIns="0" tIns="0" rIns="0" bIns="0" rtlCol="0" anchor="ctr"/>
          <a:lstStyle/>
          <a:p>
            <a:pPr algn="ctr" indent="0" marL="0">
              <a:buNone/>
            </a:pPr>
            <a:r>
              <a:rPr lang="en-US" sz="1320" b="1" dirty="0">
                <a:solidFill>
                  <a:srgbClr val="1F2937"/>
                </a:solidFill>
                <a:latin typeface="Liberation Sans" pitchFamily="34" charset="0"/>
                <a:ea typeface="Liberation Sans" pitchFamily="34" charset="-122"/>
                <a:cs typeface="Liberation Sans" pitchFamily="34" charset="-120"/>
              </a:rPr>
              <a:t>Evaluation,</a:t>
            </a:r>
            <a:endParaRPr lang="en-US" sz="1320" dirty="0"/>
          </a:p>
          <a:p>
            <a:pPr algn="ctr" indent="0" marL="0">
              <a:buNone/>
            </a:pPr>
            <a:r>
              <a:rPr lang="en-US" sz="1320" b="1" dirty="0">
                <a:solidFill>
                  <a:srgbClr val="1F2937"/>
                </a:solidFill>
                <a:latin typeface="Liberation Sans" pitchFamily="34" charset="0"/>
                <a:ea typeface="Liberation Sans" pitchFamily="34" charset="-122"/>
                <a:cs typeface="Liberation Sans" pitchFamily="34" charset="-120"/>
              </a:rPr>
              <a:t>audit,</a:t>
            </a:r>
            <a:endParaRPr lang="en-US" sz="1320" dirty="0"/>
          </a:p>
          <a:p>
            <a:pPr algn="ctr" indent="0" marL="0">
              <a:buNone/>
            </a:pPr>
            <a:r>
              <a:rPr lang="en-US" sz="1320" b="1" dirty="0">
                <a:solidFill>
                  <a:srgbClr val="1F2937"/>
                </a:solidFill>
                <a:latin typeface="Liberation Sans" pitchFamily="34" charset="0"/>
                <a:ea typeface="Liberation Sans" pitchFamily="34" charset="-122"/>
                <a:cs typeface="Liberation Sans" pitchFamily="34" charset="-120"/>
              </a:rPr>
              <a:t>report</a:t>
            </a:r>
            <a:endParaRPr lang="en-US" sz="1320" dirty="0"/>
          </a:p>
        </p:txBody>
      </p:sp>
      <p:sp>
        <p:nvSpPr>
          <p:cNvPr id="18" name="Shape 15"/>
          <p:cNvSpPr/>
          <p:nvPr/>
        </p:nvSpPr>
        <p:spPr>
          <a:xfrm>
            <a:off x="3072384" y="2478024"/>
            <a:ext cx="438912" cy="0"/>
          </a:xfrm>
          <a:prstGeom prst="line">
            <a:avLst/>
          </a:prstGeom>
          <a:noFill/>
          <a:ln w="25400">
            <a:solidFill>
              <a:srgbClr val="003262"/>
            </a:solidFill>
            <a:prstDash val="solid"/>
            <a:tailEnd type="triangle"/>
          </a:ln>
        </p:spPr>
      </p:sp>
      <p:sp>
        <p:nvSpPr>
          <p:cNvPr id="19" name="Shape 16"/>
          <p:cNvSpPr/>
          <p:nvPr/>
        </p:nvSpPr>
        <p:spPr>
          <a:xfrm>
            <a:off x="5504688" y="2478024"/>
            <a:ext cx="329184" cy="0"/>
          </a:xfrm>
          <a:prstGeom prst="line">
            <a:avLst/>
          </a:prstGeom>
          <a:noFill/>
          <a:ln w="25400">
            <a:solidFill>
              <a:srgbClr val="003262"/>
            </a:solidFill>
            <a:prstDash val="solid"/>
            <a:tailEnd type="triangle"/>
          </a:ln>
        </p:spPr>
      </p:sp>
      <p:sp>
        <p:nvSpPr>
          <p:cNvPr id="20" name="Shape 17"/>
          <p:cNvSpPr/>
          <p:nvPr/>
        </p:nvSpPr>
        <p:spPr>
          <a:xfrm>
            <a:off x="7443216" y="2478024"/>
            <a:ext cx="347472" cy="0"/>
          </a:xfrm>
          <a:prstGeom prst="line">
            <a:avLst/>
          </a:prstGeom>
          <a:noFill/>
          <a:ln w="25400">
            <a:solidFill>
              <a:srgbClr val="003262"/>
            </a:solidFill>
            <a:prstDash val="solid"/>
            <a:tailEnd type="triangle"/>
          </a:ln>
        </p:spPr>
      </p:sp>
      <p:sp>
        <p:nvSpPr>
          <p:cNvPr id="21" name="Shape 18"/>
          <p:cNvSpPr/>
          <p:nvPr/>
        </p:nvSpPr>
        <p:spPr>
          <a:xfrm>
            <a:off x="9015984" y="2478024"/>
            <a:ext cx="310896" cy="0"/>
          </a:xfrm>
          <a:prstGeom prst="line">
            <a:avLst/>
          </a:prstGeom>
          <a:noFill/>
          <a:ln w="25400">
            <a:solidFill>
              <a:srgbClr val="003262"/>
            </a:solidFill>
            <a:prstDash val="solid"/>
            <a:tailEnd type="triangle"/>
          </a:ln>
        </p:spPr>
      </p:sp>
      <p:sp>
        <p:nvSpPr>
          <p:cNvPr id="22" name="Shape 19"/>
          <p:cNvSpPr/>
          <p:nvPr/>
        </p:nvSpPr>
        <p:spPr>
          <a:xfrm>
            <a:off x="4956048" y="3438144"/>
            <a:ext cx="3822192" cy="1115568"/>
          </a:xfrm>
          <a:prstGeom prst="roundRect">
            <a:avLst>
              <a:gd name="adj" fmla="val 4918"/>
            </a:avLst>
          </a:prstGeom>
          <a:solidFill>
            <a:srgbClr val="F9FAFB"/>
          </a:solidFill>
          <a:ln w="20320">
            <a:solidFill>
              <a:srgbClr val="003262"/>
            </a:solidFill>
            <a:prstDash val="solid"/>
          </a:ln>
        </p:spPr>
      </p:sp>
      <p:sp>
        <p:nvSpPr>
          <p:cNvPr id="23" name="Text 20"/>
          <p:cNvSpPr/>
          <p:nvPr/>
        </p:nvSpPr>
        <p:spPr>
          <a:xfrm>
            <a:off x="5285232" y="3584448"/>
            <a:ext cx="3163824" cy="219456"/>
          </a:xfrm>
          <a:prstGeom prst="rect">
            <a:avLst/>
          </a:prstGeom>
          <a:noFill/>
          <a:ln/>
        </p:spPr>
        <p:txBody>
          <a:bodyPr wrap="square" lIns="0" tIns="0" rIns="0" bIns="0" rtlCol="0" anchor="ctr"/>
          <a:lstStyle/>
          <a:p>
            <a:pPr algn="ctr" indent="0" marL="0">
              <a:buNone/>
            </a:pPr>
            <a:r>
              <a:rPr lang="en-US" sz="1350" b="1" dirty="0">
                <a:solidFill>
                  <a:srgbClr val="1F2937"/>
                </a:solidFill>
                <a:latin typeface="Liberation Sans" pitchFamily="34" charset="0"/>
                <a:ea typeface="Liberation Sans" pitchFamily="34" charset="-122"/>
                <a:cs typeface="Liberation Sans" pitchFamily="34" charset="-120"/>
              </a:rPr>
              <a:t>Factuality scoring</a:t>
            </a:r>
            <a:endParaRPr lang="en-US" sz="1350" dirty="0"/>
          </a:p>
        </p:txBody>
      </p:sp>
      <p:sp>
        <p:nvSpPr>
          <p:cNvPr id="24" name="Shape 21"/>
          <p:cNvSpPr/>
          <p:nvPr/>
        </p:nvSpPr>
        <p:spPr>
          <a:xfrm>
            <a:off x="5157216" y="3950208"/>
            <a:ext cx="731520" cy="347472"/>
          </a:xfrm>
          <a:prstGeom prst="roundRect">
            <a:avLst>
              <a:gd name="adj" fmla="val 13158"/>
            </a:avLst>
          </a:prstGeom>
          <a:solidFill>
            <a:srgbClr val="FFFFFF"/>
          </a:solidFill>
          <a:ln w="17780">
            <a:solidFill>
              <a:srgbClr val="003262"/>
            </a:solidFill>
            <a:prstDash val="solid"/>
          </a:ln>
        </p:spPr>
      </p:sp>
      <p:sp>
        <p:nvSpPr>
          <p:cNvPr id="25" name="Text 22"/>
          <p:cNvSpPr/>
          <p:nvPr/>
        </p:nvSpPr>
        <p:spPr>
          <a:xfrm>
            <a:off x="5230368" y="4050792"/>
            <a:ext cx="585216" cy="201168"/>
          </a:xfrm>
          <a:prstGeom prst="rect">
            <a:avLst/>
          </a:prstGeom>
          <a:noFill/>
          <a:ln/>
        </p:spPr>
        <p:txBody>
          <a:bodyPr wrap="square" lIns="0" tIns="0" rIns="0" bIns="0" rtlCol="0" anchor="ctr"/>
          <a:lstStyle/>
          <a:p>
            <a:pPr algn="ctr" indent="0" marL="0">
              <a:buNone/>
            </a:pPr>
            <a:r>
              <a:rPr lang="en-US" sz="1080" b="1" dirty="0">
                <a:solidFill>
                  <a:srgbClr val="1F2937"/>
                </a:solidFill>
                <a:latin typeface="Liberation Sans" pitchFamily="34" charset="0"/>
                <a:ea typeface="Liberation Sans" pitchFamily="34" charset="-122"/>
                <a:cs typeface="Liberation Sans" pitchFamily="34" charset="-120"/>
              </a:rPr>
              <a:t>Support</a:t>
            </a:r>
            <a:endParaRPr lang="en-US" sz="1080" dirty="0"/>
          </a:p>
        </p:txBody>
      </p:sp>
      <p:sp>
        <p:nvSpPr>
          <p:cNvPr id="26" name="Shape 23"/>
          <p:cNvSpPr/>
          <p:nvPr/>
        </p:nvSpPr>
        <p:spPr>
          <a:xfrm>
            <a:off x="5961888" y="3950208"/>
            <a:ext cx="1078992" cy="347472"/>
          </a:xfrm>
          <a:prstGeom prst="roundRect">
            <a:avLst>
              <a:gd name="adj" fmla="val 13158"/>
            </a:avLst>
          </a:prstGeom>
          <a:solidFill>
            <a:srgbClr val="FFFFFF"/>
          </a:solidFill>
          <a:ln w="17780">
            <a:solidFill>
              <a:srgbClr val="003262"/>
            </a:solidFill>
            <a:prstDash val="solid"/>
          </a:ln>
        </p:spPr>
      </p:sp>
      <p:sp>
        <p:nvSpPr>
          <p:cNvPr id="27" name="Text 24"/>
          <p:cNvSpPr/>
          <p:nvPr/>
        </p:nvSpPr>
        <p:spPr>
          <a:xfrm>
            <a:off x="6035040" y="4050792"/>
            <a:ext cx="932688" cy="201168"/>
          </a:xfrm>
          <a:prstGeom prst="rect">
            <a:avLst/>
          </a:prstGeom>
          <a:noFill/>
          <a:ln/>
        </p:spPr>
        <p:txBody>
          <a:bodyPr wrap="square" lIns="0" tIns="0" rIns="0" bIns="0" rtlCol="0" anchor="ctr"/>
          <a:lstStyle/>
          <a:p>
            <a:pPr algn="ctr" indent="0" marL="0">
              <a:buNone/>
            </a:pPr>
            <a:r>
              <a:rPr lang="en-US" sz="980" b="1" dirty="0">
                <a:solidFill>
                  <a:srgbClr val="1F2937"/>
                </a:solidFill>
                <a:latin typeface="Liberation Sans" pitchFamily="34" charset="0"/>
                <a:ea typeface="Liberation Sans" pitchFamily="34" charset="-122"/>
                <a:cs typeface="Liberation Sans" pitchFamily="34" charset="-120"/>
              </a:rPr>
              <a:t>Consistency</a:t>
            </a:r>
            <a:endParaRPr lang="en-US" sz="980" dirty="0"/>
          </a:p>
        </p:txBody>
      </p:sp>
      <p:sp>
        <p:nvSpPr>
          <p:cNvPr id="28" name="Shape 25"/>
          <p:cNvSpPr/>
          <p:nvPr/>
        </p:nvSpPr>
        <p:spPr>
          <a:xfrm>
            <a:off x="7150608" y="3950208"/>
            <a:ext cx="1353312" cy="347472"/>
          </a:xfrm>
          <a:prstGeom prst="roundRect">
            <a:avLst>
              <a:gd name="adj" fmla="val 13158"/>
            </a:avLst>
          </a:prstGeom>
          <a:solidFill>
            <a:srgbClr val="FFFFFF"/>
          </a:solidFill>
          <a:ln w="17780">
            <a:solidFill>
              <a:srgbClr val="003262"/>
            </a:solidFill>
            <a:prstDash val="solid"/>
          </a:ln>
        </p:spPr>
      </p:sp>
      <p:sp>
        <p:nvSpPr>
          <p:cNvPr id="29" name="Text 26"/>
          <p:cNvSpPr/>
          <p:nvPr/>
        </p:nvSpPr>
        <p:spPr>
          <a:xfrm>
            <a:off x="7223760" y="4050792"/>
            <a:ext cx="1207008" cy="201168"/>
          </a:xfrm>
          <a:prstGeom prst="rect">
            <a:avLst/>
          </a:prstGeom>
          <a:noFill/>
          <a:ln/>
        </p:spPr>
        <p:txBody>
          <a:bodyPr wrap="square" lIns="0" tIns="0" rIns="0" bIns="0" rtlCol="0" anchor="ctr"/>
          <a:lstStyle/>
          <a:p>
            <a:pPr algn="ctr" indent="0" marL="0">
              <a:buNone/>
            </a:pPr>
            <a:r>
              <a:rPr lang="en-US" sz="920" b="1" dirty="0">
                <a:solidFill>
                  <a:srgbClr val="1F2937"/>
                </a:solidFill>
                <a:latin typeface="Liberation Sans" pitchFamily="34" charset="0"/>
                <a:ea typeface="Liberation Sans" pitchFamily="34" charset="-122"/>
                <a:cs typeface="Liberation Sans" pitchFamily="34" charset="-120"/>
              </a:rPr>
              <a:t>Entity</a:t>
            </a:r>
            <a:endParaRPr lang="en-US" sz="920" dirty="0"/>
          </a:p>
          <a:p>
            <a:pPr algn="ctr" indent="0" marL="0">
              <a:buNone/>
            </a:pPr>
            <a:r>
              <a:rPr lang="en-US" sz="920" b="1" dirty="0">
                <a:solidFill>
                  <a:srgbClr val="1F2937"/>
                </a:solidFill>
                <a:latin typeface="Liberation Sans" pitchFamily="34" charset="0"/>
                <a:ea typeface="Liberation Sans" pitchFamily="34" charset="-122"/>
                <a:cs typeface="Liberation Sans" pitchFamily="34" charset="-120"/>
              </a:rPr>
              <a:t>grounding</a:t>
            </a:r>
            <a:endParaRPr lang="en-US" sz="920" dirty="0"/>
          </a:p>
        </p:txBody>
      </p:sp>
      <p:sp>
        <p:nvSpPr>
          <p:cNvPr id="30" name="Shape 27"/>
          <p:cNvSpPr/>
          <p:nvPr/>
        </p:nvSpPr>
        <p:spPr>
          <a:xfrm>
            <a:off x="6638544" y="2880360"/>
            <a:ext cx="0" cy="594360"/>
          </a:xfrm>
          <a:prstGeom prst="line">
            <a:avLst/>
          </a:prstGeom>
          <a:noFill/>
          <a:ln w="25400">
            <a:solidFill>
              <a:srgbClr val="003262"/>
            </a:solidFill>
            <a:prstDash val="solid"/>
            <a:tailEnd type="triangle"/>
          </a:ln>
        </p:spPr>
      </p:sp>
      <p:sp>
        <p:nvSpPr>
          <p:cNvPr id="31" name="Shape 28"/>
          <p:cNvSpPr/>
          <p:nvPr/>
        </p:nvSpPr>
        <p:spPr>
          <a:xfrm>
            <a:off x="8156448" y="3675888"/>
            <a:ext cx="256032" cy="-914400"/>
          </a:xfrm>
          <a:prstGeom prst="line">
            <a:avLst/>
          </a:prstGeom>
          <a:noFill/>
          <a:ln w="25400">
            <a:solidFill>
              <a:srgbClr val="003262"/>
            </a:solidFill>
            <a:prstDash val="solid"/>
            <a:tailEnd type="triangle"/>
          </a:ln>
        </p:spPr>
      </p:sp>
      <p:sp>
        <p:nvSpPr>
          <p:cNvPr id="32" name="Shape 29"/>
          <p:cNvSpPr/>
          <p:nvPr/>
        </p:nvSpPr>
        <p:spPr>
          <a:xfrm>
            <a:off x="749808" y="4882896"/>
            <a:ext cx="5486400" cy="749808"/>
          </a:xfrm>
          <a:prstGeom prst="roundRect">
            <a:avLst>
              <a:gd name="adj" fmla="val 7317"/>
            </a:avLst>
          </a:prstGeom>
          <a:solidFill>
            <a:srgbClr val="F7F9FB"/>
          </a:solidFill>
          <a:ln w="12700">
            <a:solidFill>
              <a:srgbClr val="D9E0E7"/>
            </a:solidFill>
            <a:prstDash val="solid"/>
          </a:ln>
        </p:spPr>
      </p:sp>
      <p:sp>
        <p:nvSpPr>
          <p:cNvPr id="33" name="Text 30"/>
          <p:cNvSpPr/>
          <p:nvPr/>
        </p:nvSpPr>
        <p:spPr>
          <a:xfrm>
            <a:off x="914400" y="5029200"/>
            <a:ext cx="5157216" cy="182880"/>
          </a:xfrm>
          <a:prstGeom prst="rect">
            <a:avLst/>
          </a:prstGeom>
          <a:noFill/>
          <a:ln/>
        </p:spPr>
        <p:txBody>
          <a:bodyPr wrap="square" lIns="0" tIns="0" rIns="0" bIns="0" rtlCol="0" anchor="ctr"/>
          <a:lstStyle/>
          <a:p>
            <a:pPr indent="0" marL="0">
              <a:buNone/>
            </a:pPr>
            <a:r>
              <a:rPr lang="en-US" sz="1280" b="1" dirty="0">
                <a:solidFill>
                  <a:srgbClr val="3B7EA1"/>
                </a:solidFill>
                <a:latin typeface="Liberation Sans" pitchFamily="34" charset="0"/>
                <a:ea typeface="Liberation Sans" pitchFamily="34" charset="-122"/>
                <a:cs typeface="Liberation Sans" pitchFamily="34" charset="-120"/>
              </a:rPr>
              <a:t>Scoring signals</a:t>
            </a:r>
            <a:endParaRPr lang="en-US" sz="1280" dirty="0"/>
          </a:p>
        </p:txBody>
      </p:sp>
      <p:sp>
        <p:nvSpPr>
          <p:cNvPr id="34" name="Text 31"/>
          <p:cNvSpPr/>
          <p:nvPr/>
        </p:nvSpPr>
        <p:spPr>
          <a:xfrm>
            <a:off x="914400" y="5266944"/>
            <a:ext cx="5157216" cy="201168"/>
          </a:xfrm>
          <a:prstGeom prst="rect">
            <a:avLst/>
          </a:prstGeom>
          <a:noFill/>
          <a:ln/>
        </p:spPr>
        <p:txBody>
          <a:bodyPr wrap="square" lIns="0" tIns="0" rIns="0" bIns="0" rtlCol="0" anchor="t"/>
          <a:lstStyle/>
          <a:p>
            <a:pPr indent="0" marL="0">
              <a:buNone/>
            </a:pPr>
            <a:r>
              <a:rPr lang="en-US" sz="1190" dirty="0">
                <a:solidFill>
                  <a:srgbClr val="243746"/>
                </a:solidFill>
                <a:latin typeface="Liberation Sans" pitchFamily="34" charset="0"/>
                <a:ea typeface="Liberation Sans" pitchFamily="34" charset="-122"/>
                <a:cs typeface="Liberation Sans" pitchFamily="34" charset="-120"/>
              </a:rPr>
              <a:t>Support, consistency, and entity grounding are scored for each candidate summary.</a:t>
            </a:r>
            <a:endParaRPr lang="en-US" sz="1190" dirty="0"/>
          </a:p>
        </p:txBody>
      </p:sp>
      <p:sp>
        <p:nvSpPr>
          <p:cNvPr id="35" name="Shape 32"/>
          <p:cNvSpPr/>
          <p:nvPr/>
        </p:nvSpPr>
        <p:spPr>
          <a:xfrm>
            <a:off x="6419088" y="4882896"/>
            <a:ext cx="4754880" cy="749808"/>
          </a:xfrm>
          <a:prstGeom prst="roundRect">
            <a:avLst>
              <a:gd name="adj" fmla="val 7317"/>
            </a:avLst>
          </a:prstGeom>
          <a:solidFill>
            <a:srgbClr val="FFFFFF"/>
          </a:solidFill>
          <a:ln w="12700">
            <a:solidFill>
              <a:srgbClr val="D9E0E7"/>
            </a:solidFill>
            <a:prstDash val="solid"/>
          </a:ln>
        </p:spPr>
      </p:sp>
      <p:sp>
        <p:nvSpPr>
          <p:cNvPr id="36" name="Text 33"/>
          <p:cNvSpPr/>
          <p:nvPr/>
        </p:nvSpPr>
        <p:spPr>
          <a:xfrm>
            <a:off x="6583680" y="5029200"/>
            <a:ext cx="4425696" cy="182880"/>
          </a:xfrm>
          <a:prstGeom prst="rect">
            <a:avLst/>
          </a:prstGeom>
          <a:noFill/>
          <a:ln/>
        </p:spPr>
        <p:txBody>
          <a:bodyPr wrap="square" lIns="0" tIns="0" rIns="0" bIns="0" rtlCol="0" anchor="ctr"/>
          <a:lstStyle/>
          <a:p>
            <a:pPr indent="0" marL="0">
              <a:buNone/>
            </a:pPr>
            <a:r>
              <a:rPr lang="en-US" sz="1280" b="1" dirty="0">
                <a:solidFill>
                  <a:srgbClr val="3B7EA1"/>
                </a:solidFill>
                <a:latin typeface="Liberation Sans" pitchFamily="34" charset="0"/>
                <a:ea typeface="Liberation Sans" pitchFamily="34" charset="-122"/>
                <a:cs typeface="Liberation Sans" pitchFamily="34" charset="-120"/>
              </a:rPr>
              <a:t>Selection rule</a:t>
            </a:r>
            <a:endParaRPr lang="en-US" sz="1280" dirty="0"/>
          </a:p>
        </p:txBody>
      </p:sp>
      <p:sp>
        <p:nvSpPr>
          <p:cNvPr id="37" name="Text 34"/>
          <p:cNvSpPr/>
          <p:nvPr/>
        </p:nvSpPr>
        <p:spPr>
          <a:xfrm>
            <a:off x="6583680" y="5266944"/>
            <a:ext cx="4425696" cy="201168"/>
          </a:xfrm>
          <a:prstGeom prst="rect">
            <a:avLst/>
          </a:prstGeom>
          <a:noFill/>
          <a:ln/>
        </p:spPr>
        <p:txBody>
          <a:bodyPr wrap="square" lIns="0" tIns="0" rIns="0" bIns="0" rtlCol="0" anchor="t"/>
          <a:lstStyle/>
          <a:p>
            <a:pPr indent="0" marL="0">
              <a:buNone/>
            </a:pPr>
            <a:r>
              <a:rPr lang="en-US" sz="1190" dirty="0">
                <a:solidFill>
                  <a:srgbClr val="243746"/>
                </a:solidFill>
                <a:latin typeface="Liberation Sans" pitchFamily="34" charset="0"/>
                <a:ea typeface="Liberation Sans" pitchFamily="34" charset="-122"/>
                <a:cs typeface="Liberation Sans" pitchFamily="34" charset="-120"/>
              </a:rPr>
              <a:t>Validation tunes the weights once; the chosen setting is then evaluated once on test.</a:t>
            </a:r>
            <a:endParaRPr lang="en-US" sz="1190" dirty="0"/>
          </a:p>
        </p:txBody>
      </p:sp>
      <p:sp>
        <p:nvSpPr>
          <p:cNvPr id="38" name="Text 35"/>
          <p:cNvSpPr/>
          <p:nvPr/>
        </p:nvSpPr>
        <p:spPr>
          <a:xfrm>
            <a:off x="749808" y="5687568"/>
            <a:ext cx="10241280" cy="201168"/>
          </a:xfrm>
          <a:prstGeom prst="rect">
            <a:avLst/>
          </a:prstGeom>
          <a:noFill/>
          <a:ln/>
        </p:spPr>
        <p:txBody>
          <a:bodyPr wrap="square" lIns="0" tIns="0" rIns="0" bIns="0" rtlCol="0" anchor="ctr"/>
          <a:lstStyle/>
          <a:p>
            <a:pPr indent="0" marL="0">
              <a:buNone/>
            </a:pPr>
            <a:r>
              <a:rPr lang="en-US" sz="1250" i="1" dirty="0">
                <a:solidFill>
                  <a:srgbClr val="5F6B78"/>
                </a:solidFill>
                <a:latin typeface="Liberation Sans" pitchFamily="34" charset="0"/>
                <a:ea typeface="Liberation Sans" pitchFamily="34" charset="-122"/>
                <a:cs typeface="Liberation Sans" pitchFamily="34" charset="-120"/>
              </a:rPr>
              <a:t>Beam sizes 4, 8, and 16 were explored; the winner was a factuality-heavy beam-16 setting.</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84048"/>
            <a:ext cx="2377440"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RESULTS</a:t>
            </a:r>
            <a:endParaRPr lang="en-US" sz="1100" dirty="0"/>
          </a:p>
        </p:txBody>
      </p:sp>
      <p:sp>
        <p:nvSpPr>
          <p:cNvPr id="3" name="Text 1"/>
          <p:cNvSpPr/>
          <p:nvPr/>
        </p:nvSpPr>
        <p:spPr>
          <a:xfrm>
            <a:off x="621792" y="603504"/>
            <a:ext cx="10607040" cy="475488"/>
          </a:xfrm>
          <a:prstGeom prst="rect">
            <a:avLst/>
          </a:prstGeom>
          <a:noFill/>
          <a:ln/>
        </p:spPr>
        <p:txBody>
          <a:bodyPr wrap="square" lIns="0" tIns="0" rIns="0" bIns="0" rtlCol="0" anchor="ctr"/>
          <a:lstStyle/>
          <a:p>
            <a:pPr indent="0" marL="0">
              <a:buNone/>
            </a:pPr>
            <a:r>
              <a:rPr lang="en-US" sz="2400" b="1" dirty="0">
                <a:solidFill>
                  <a:srgbClr val="003262"/>
                </a:solidFill>
                <a:latin typeface="Liberation Sans" pitchFamily="34" charset="0"/>
                <a:ea typeface="Liberation Sans" pitchFamily="34" charset="-122"/>
                <a:cs typeface="Liberation Sans" pitchFamily="34" charset="-120"/>
              </a:rPr>
              <a:t>Reranking improves factuality, with a modest ROUGE trade-off</a:t>
            </a:r>
            <a:endParaRPr lang="en-US" sz="2400" dirty="0"/>
          </a:p>
        </p:txBody>
      </p:sp>
      <p:sp>
        <p:nvSpPr>
          <p:cNvPr id="4" name="Shape 2"/>
          <p:cNvSpPr/>
          <p:nvPr/>
        </p:nvSpPr>
        <p:spPr>
          <a:xfrm>
            <a:off x="621792" y="1207008"/>
            <a:ext cx="10835640" cy="0"/>
          </a:xfrm>
          <a:prstGeom prst="line">
            <a:avLst/>
          </a:prstGeom>
          <a:noFill/>
          <a:ln w="15240">
            <a:solidFill>
              <a:srgbClr val="FDB515"/>
            </a:solidFill>
            <a:prstDash val="solid"/>
          </a:ln>
        </p:spPr>
      </p:sp>
      <p:sp>
        <p:nvSpPr>
          <p:cNvPr id="5" name="Text 3"/>
          <p:cNvSpPr/>
          <p:nvPr/>
        </p:nvSpPr>
        <p:spPr>
          <a:xfrm>
            <a:off x="621792" y="1280160"/>
            <a:ext cx="10332720" cy="310896"/>
          </a:xfrm>
          <a:prstGeom prst="rect">
            <a:avLst/>
          </a:prstGeom>
          <a:noFill/>
          <a:ln/>
        </p:spPr>
        <p:txBody>
          <a:bodyPr wrap="square" lIns="0" tIns="0" rIns="0" bIns="0" rtlCol="0" anchor="ctr"/>
          <a:lstStyle/>
          <a:p>
            <a:pPr indent="0" marL="0">
              <a:buNone/>
            </a:pPr>
            <a:r>
              <a:rPr lang="en-US" sz="1300" i="1" dirty="0">
                <a:solidFill>
                  <a:srgbClr val="5F6B78"/>
                </a:solidFill>
                <a:latin typeface="Liberation Sans" pitchFamily="34" charset="0"/>
                <a:ea typeface="Liberation Sans" pitchFamily="34" charset="-122"/>
                <a:cs typeface="Liberation Sans" pitchFamily="34" charset="-120"/>
              </a:rPr>
              <a:t>The chosen point sits near the high-factuality knee, not the highest-ROUGE corner.</a:t>
            </a:r>
            <a:endParaRPr lang="en-US" sz="1300" dirty="0"/>
          </a:p>
        </p:txBody>
      </p:sp>
      <p:pic>
        <p:nvPicPr>
          <p:cNvPr id="6" name="Image 0" descr="/home/bjorn/repos/berkeley/factuality-rerank-xsum/docs/final-report/slides/assets/berkeley_soi_logo.png">    </p:cNvPr>
          <p:cNvPicPr>
            <a:picLocks noChangeAspect="1"/>
          </p:cNvPicPr>
          <p:nvPr/>
        </p:nvPicPr>
        <p:blipFill>
          <a:blip r:embed="rId1"/>
          <a:stretch>
            <a:fillRect/>
          </a:stretch>
        </p:blipFill>
        <p:spPr>
          <a:xfrm>
            <a:off x="386979" y="6327648"/>
            <a:ext cx="1594338" cy="310896"/>
          </a:xfrm>
          <a:prstGeom prst="rect">
            <a:avLst/>
          </a:prstGeom>
        </p:spPr>
      </p:pic>
      <p:sp>
        <p:nvSpPr>
          <p:cNvPr id="7" name="Text 4"/>
          <p:cNvSpPr/>
          <p:nvPr/>
        </p:nvSpPr>
        <p:spPr>
          <a:xfrm>
            <a:off x="11292840" y="6336792"/>
            <a:ext cx="411480" cy="164592"/>
          </a:xfrm>
          <a:prstGeom prst="rect">
            <a:avLst/>
          </a:prstGeom>
          <a:noFill/>
          <a:ln/>
        </p:spPr>
        <p:txBody>
          <a:bodyPr wrap="square" lIns="0" tIns="0" rIns="0" bIns="0" rtlCol="0" anchor="ctr"/>
          <a:lstStyle/>
          <a:p>
            <a:pPr algn="r" indent="0" marL="0">
              <a:buNone/>
            </a:pPr>
            <a:r>
              <a:rPr lang="en-US" sz="1000" dirty="0">
                <a:solidFill>
                  <a:srgbClr val="5F6B78"/>
                </a:solidFill>
                <a:latin typeface="Liberation Sans" pitchFamily="34" charset="0"/>
                <a:ea typeface="Liberation Sans" pitchFamily="34" charset="-122"/>
                <a:cs typeface="Liberation Sans" pitchFamily="34" charset="-120"/>
              </a:rPr>
              <a:t>5</a:t>
            </a:r>
            <a:endParaRPr lang="en-US" sz="1000" dirty="0"/>
          </a:p>
        </p:txBody>
      </p:sp>
      <p:sp>
        <p:nvSpPr>
          <p:cNvPr id="8" name="Shape 5"/>
          <p:cNvSpPr/>
          <p:nvPr/>
        </p:nvSpPr>
        <p:spPr>
          <a:xfrm>
            <a:off x="731520" y="1783080"/>
            <a:ext cx="2788920" cy="1371600"/>
          </a:xfrm>
          <a:prstGeom prst="roundRect">
            <a:avLst>
              <a:gd name="adj" fmla="val 4000"/>
            </a:avLst>
          </a:prstGeom>
          <a:solidFill>
            <a:srgbClr val="FFFFFF"/>
          </a:solidFill>
          <a:ln w="12700">
            <a:solidFill>
              <a:srgbClr val="D9E0E7"/>
            </a:solidFill>
            <a:prstDash val="solid"/>
          </a:ln>
        </p:spPr>
      </p:sp>
      <p:sp>
        <p:nvSpPr>
          <p:cNvPr id="9" name="Text 6"/>
          <p:cNvSpPr/>
          <p:nvPr/>
        </p:nvSpPr>
        <p:spPr>
          <a:xfrm>
            <a:off x="896112" y="1911096"/>
            <a:ext cx="245973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Factuality composite</a:t>
            </a:r>
            <a:endParaRPr lang="en-US" sz="1100" dirty="0"/>
          </a:p>
        </p:txBody>
      </p:sp>
      <p:sp>
        <p:nvSpPr>
          <p:cNvPr id="10" name="Text 7"/>
          <p:cNvSpPr/>
          <p:nvPr/>
        </p:nvSpPr>
        <p:spPr>
          <a:xfrm>
            <a:off x="896112" y="2112264"/>
            <a:ext cx="2459736" cy="914400"/>
          </a:xfrm>
          <a:prstGeom prst="rect">
            <a:avLst/>
          </a:prstGeom>
          <a:noFill/>
          <a:ln/>
        </p:spPr>
        <p:txBody>
          <a:bodyPr wrap="square" lIns="0" tIns="0" rIns="0" bIns="0" rtlCol="0" anchor="ctr"/>
          <a:lstStyle/>
          <a:p>
            <a:pPr indent="0" marL="0">
              <a:buNone/>
            </a:pPr>
            <a:endParaRPr lang="en-US" sz="1500" dirty="0"/>
          </a:p>
        </p:txBody>
      </p:sp>
      <p:sp>
        <p:nvSpPr>
          <p:cNvPr id="11" name="Text 8"/>
          <p:cNvSpPr/>
          <p:nvPr/>
        </p:nvSpPr>
        <p:spPr>
          <a:xfrm>
            <a:off x="914400" y="2258568"/>
            <a:ext cx="2423160" cy="402336"/>
          </a:xfrm>
          <a:prstGeom prst="rect">
            <a:avLst/>
          </a:prstGeom>
          <a:noFill/>
          <a:ln/>
        </p:spPr>
        <p:txBody>
          <a:bodyPr wrap="square" lIns="0" tIns="0" rIns="0" bIns="0" rtlCol="0" anchor="ctr"/>
          <a:lstStyle/>
          <a:p>
            <a:pPr indent="0" marL="0">
              <a:buNone/>
            </a:pPr>
            <a:r>
              <a:rPr lang="en-US" sz="2300" b="1" dirty="0">
                <a:solidFill>
                  <a:srgbClr val="0B6E4F"/>
                </a:solidFill>
                <a:latin typeface="Liberation Sans" pitchFamily="34" charset="0"/>
                <a:ea typeface="Liberation Sans" pitchFamily="34" charset="-122"/>
                <a:cs typeface="Liberation Sans" pitchFamily="34" charset="-120"/>
              </a:rPr>
              <a:t>0.331 → 0.434</a:t>
            </a:r>
            <a:endParaRPr lang="en-US" sz="2300" dirty="0"/>
          </a:p>
        </p:txBody>
      </p:sp>
      <p:sp>
        <p:nvSpPr>
          <p:cNvPr id="12" name="Text 9"/>
          <p:cNvSpPr/>
          <p:nvPr/>
        </p:nvSpPr>
        <p:spPr>
          <a:xfrm>
            <a:off x="914400" y="2752344"/>
            <a:ext cx="2423160" cy="182880"/>
          </a:xfrm>
          <a:prstGeom prst="rect">
            <a:avLst/>
          </a:prstGeom>
          <a:noFill/>
          <a:ln/>
        </p:spPr>
        <p:txBody>
          <a:bodyPr wrap="square" lIns="0" tIns="0" rIns="0" bIns="0" rtlCol="0" anchor="ctr"/>
          <a:lstStyle/>
          <a:p>
            <a:pPr indent="0" marL="0">
              <a:buNone/>
            </a:pPr>
            <a:r>
              <a:rPr lang="en-US" sz="1150" i="1" dirty="0">
                <a:solidFill>
                  <a:srgbClr val="0B6E4F"/>
                </a:solidFill>
                <a:latin typeface="Liberation Sans" pitchFamily="34" charset="0"/>
                <a:ea typeface="Liberation Sans" pitchFamily="34" charset="-122"/>
                <a:cs typeface="Liberation Sans" pitchFamily="34" charset="-120"/>
              </a:rPr>
              <a:t>+0.103 on bounded test split</a:t>
            </a:r>
            <a:endParaRPr lang="en-US" sz="1150" dirty="0"/>
          </a:p>
        </p:txBody>
      </p:sp>
      <p:sp>
        <p:nvSpPr>
          <p:cNvPr id="13" name="Shape 10"/>
          <p:cNvSpPr/>
          <p:nvPr/>
        </p:nvSpPr>
        <p:spPr>
          <a:xfrm>
            <a:off x="3703320" y="1783080"/>
            <a:ext cx="2788920" cy="1371600"/>
          </a:xfrm>
          <a:prstGeom prst="roundRect">
            <a:avLst>
              <a:gd name="adj" fmla="val 4000"/>
            </a:avLst>
          </a:prstGeom>
          <a:solidFill>
            <a:srgbClr val="FFFFFF"/>
          </a:solidFill>
          <a:ln w="12700">
            <a:solidFill>
              <a:srgbClr val="D9E0E7"/>
            </a:solidFill>
            <a:prstDash val="solid"/>
          </a:ln>
        </p:spPr>
      </p:sp>
      <p:sp>
        <p:nvSpPr>
          <p:cNvPr id="14" name="Text 11"/>
          <p:cNvSpPr/>
          <p:nvPr/>
        </p:nvSpPr>
        <p:spPr>
          <a:xfrm>
            <a:off x="3867912" y="1911096"/>
            <a:ext cx="245973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ROUGE-Lsum</a:t>
            </a:r>
            <a:endParaRPr lang="en-US" sz="1100" dirty="0"/>
          </a:p>
        </p:txBody>
      </p:sp>
      <p:sp>
        <p:nvSpPr>
          <p:cNvPr id="15" name="Text 12"/>
          <p:cNvSpPr/>
          <p:nvPr/>
        </p:nvSpPr>
        <p:spPr>
          <a:xfrm>
            <a:off x="3867912" y="2112264"/>
            <a:ext cx="2459736" cy="914400"/>
          </a:xfrm>
          <a:prstGeom prst="rect">
            <a:avLst/>
          </a:prstGeom>
          <a:noFill/>
          <a:ln/>
        </p:spPr>
        <p:txBody>
          <a:bodyPr wrap="square" lIns="0" tIns="0" rIns="0" bIns="0" rtlCol="0" anchor="ctr"/>
          <a:lstStyle/>
          <a:p>
            <a:pPr indent="0" marL="0">
              <a:buNone/>
            </a:pPr>
            <a:endParaRPr lang="en-US" sz="1500" dirty="0"/>
          </a:p>
        </p:txBody>
      </p:sp>
      <p:sp>
        <p:nvSpPr>
          <p:cNvPr id="16" name="Text 13"/>
          <p:cNvSpPr/>
          <p:nvPr/>
        </p:nvSpPr>
        <p:spPr>
          <a:xfrm>
            <a:off x="3886200" y="2258568"/>
            <a:ext cx="2423160" cy="402336"/>
          </a:xfrm>
          <a:prstGeom prst="rect">
            <a:avLst/>
          </a:prstGeom>
          <a:noFill/>
          <a:ln/>
        </p:spPr>
        <p:txBody>
          <a:bodyPr wrap="square" lIns="0" tIns="0" rIns="0" bIns="0" rtlCol="0" anchor="ctr"/>
          <a:lstStyle/>
          <a:p>
            <a:pPr indent="0" marL="0">
              <a:buNone/>
            </a:pPr>
            <a:r>
              <a:rPr lang="en-US" sz="2300" b="1" dirty="0">
                <a:solidFill>
                  <a:srgbClr val="B36A00"/>
                </a:solidFill>
                <a:latin typeface="Liberation Sans" pitchFamily="34" charset="0"/>
                <a:ea typeface="Liberation Sans" pitchFamily="34" charset="-122"/>
                <a:cs typeface="Liberation Sans" pitchFamily="34" charset="-120"/>
              </a:rPr>
              <a:t>0.359 → 0.339</a:t>
            </a:r>
            <a:endParaRPr lang="en-US" sz="2300" dirty="0"/>
          </a:p>
        </p:txBody>
      </p:sp>
      <p:sp>
        <p:nvSpPr>
          <p:cNvPr id="17" name="Text 14"/>
          <p:cNvSpPr/>
          <p:nvPr/>
        </p:nvSpPr>
        <p:spPr>
          <a:xfrm>
            <a:off x="3886200" y="2752344"/>
            <a:ext cx="2423160" cy="182880"/>
          </a:xfrm>
          <a:prstGeom prst="rect">
            <a:avLst/>
          </a:prstGeom>
          <a:noFill/>
          <a:ln/>
        </p:spPr>
        <p:txBody>
          <a:bodyPr wrap="square" lIns="0" tIns="0" rIns="0" bIns="0" rtlCol="0" anchor="ctr"/>
          <a:lstStyle/>
          <a:p>
            <a:pPr indent="0" marL="0">
              <a:buNone/>
            </a:pPr>
            <a:r>
              <a:rPr lang="en-US" sz="1150" i="1" dirty="0">
                <a:solidFill>
                  <a:srgbClr val="B36A00"/>
                </a:solidFill>
                <a:latin typeface="Liberation Sans" pitchFamily="34" charset="0"/>
                <a:ea typeface="Liberation Sans" pitchFamily="34" charset="-122"/>
                <a:cs typeface="Liberation Sans" pitchFamily="34" charset="-120"/>
              </a:rPr>
              <a:t>-0.020 ROUGE-Lsum trade-off</a:t>
            </a:r>
            <a:endParaRPr lang="en-US" sz="1150" dirty="0"/>
          </a:p>
        </p:txBody>
      </p:sp>
      <p:sp>
        <p:nvSpPr>
          <p:cNvPr id="18" name="Shape 15"/>
          <p:cNvSpPr/>
          <p:nvPr/>
        </p:nvSpPr>
        <p:spPr>
          <a:xfrm>
            <a:off x="731520" y="3401568"/>
            <a:ext cx="5623560" cy="868680"/>
          </a:xfrm>
          <a:prstGeom prst="roundRect">
            <a:avLst>
              <a:gd name="adj" fmla="val 6316"/>
            </a:avLst>
          </a:prstGeom>
          <a:solidFill>
            <a:srgbClr val="F7F9FB"/>
          </a:solidFill>
          <a:ln w="12700">
            <a:solidFill>
              <a:srgbClr val="D9E0E7"/>
            </a:solidFill>
            <a:prstDash val="solid"/>
          </a:ln>
        </p:spPr>
      </p:sp>
      <p:sp>
        <p:nvSpPr>
          <p:cNvPr id="19" name="Text 16"/>
          <p:cNvSpPr/>
          <p:nvPr/>
        </p:nvSpPr>
        <p:spPr>
          <a:xfrm>
            <a:off x="896112" y="3529584"/>
            <a:ext cx="529437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Bootstrap deltas</a:t>
            </a:r>
            <a:endParaRPr lang="en-US" sz="1100" dirty="0"/>
          </a:p>
        </p:txBody>
      </p:sp>
      <p:sp>
        <p:nvSpPr>
          <p:cNvPr id="20" name="Text 17"/>
          <p:cNvSpPr/>
          <p:nvPr/>
        </p:nvSpPr>
        <p:spPr>
          <a:xfrm>
            <a:off x="896112" y="3730752"/>
            <a:ext cx="5294376" cy="411480"/>
          </a:xfrm>
          <a:prstGeom prst="rect">
            <a:avLst/>
          </a:prstGeom>
          <a:noFill/>
          <a:ln/>
        </p:spPr>
        <p:txBody>
          <a:bodyPr wrap="square" lIns="0" tIns="0" rIns="0" bIns="0" rtlCol="0" anchor="ctr"/>
          <a:lstStyle/>
          <a:p>
            <a:pPr indent="0" marL="0">
              <a:buNone/>
            </a:pPr>
            <a:r>
              <a:rPr lang="en-US" sz="1400" dirty="0">
                <a:solidFill>
                  <a:srgbClr val="243746"/>
                </a:solidFill>
                <a:latin typeface="Liberation Sans" pitchFamily="34" charset="0"/>
                <a:ea typeface="Liberation Sans" pitchFamily="34" charset="-122"/>
                <a:cs typeface="Liberation Sans" pitchFamily="34" charset="-120"/>
              </a:rPr>
              <a:t>Factuality CI: [0.082, 0.125]</a:t>
            </a:r>
            <a:endParaRPr lang="en-US" sz="1400" dirty="0"/>
          </a:p>
          <a:p>
            <a:pPr indent="0" marL="0">
              <a:buNone/>
            </a:pPr>
            <a:r>
              <a:rPr lang="en-US" sz="1400" dirty="0">
                <a:solidFill>
                  <a:srgbClr val="243746"/>
                </a:solidFill>
                <a:latin typeface="Liberation Sans" pitchFamily="34" charset="0"/>
                <a:ea typeface="Liberation Sans" pitchFamily="34" charset="-122"/>
                <a:cs typeface="Liberation Sans" pitchFamily="34" charset="-120"/>
              </a:rPr>
              <a:t>ROUGE CI: [-0.033, -0.006]</a:t>
            </a:r>
            <a:endParaRPr lang="en-US" sz="1400" dirty="0"/>
          </a:p>
        </p:txBody>
      </p:sp>
      <p:sp>
        <p:nvSpPr>
          <p:cNvPr id="21" name="Shape 18"/>
          <p:cNvSpPr/>
          <p:nvPr/>
        </p:nvSpPr>
        <p:spPr>
          <a:xfrm>
            <a:off x="731520" y="4480560"/>
            <a:ext cx="5623560" cy="777240"/>
          </a:xfrm>
          <a:prstGeom prst="roundRect">
            <a:avLst>
              <a:gd name="adj" fmla="val 7059"/>
            </a:avLst>
          </a:prstGeom>
          <a:solidFill>
            <a:srgbClr val="FFFFFF"/>
          </a:solidFill>
          <a:ln w="12700">
            <a:solidFill>
              <a:srgbClr val="D9E0E7"/>
            </a:solidFill>
            <a:prstDash val="solid"/>
          </a:ln>
        </p:spPr>
      </p:sp>
      <p:sp>
        <p:nvSpPr>
          <p:cNvPr id="22" name="Text 19"/>
          <p:cNvSpPr/>
          <p:nvPr/>
        </p:nvSpPr>
        <p:spPr>
          <a:xfrm>
            <a:off x="896112" y="4608576"/>
            <a:ext cx="529437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Chosen point</a:t>
            </a:r>
            <a:endParaRPr lang="en-US" sz="1100" dirty="0"/>
          </a:p>
        </p:txBody>
      </p:sp>
      <p:sp>
        <p:nvSpPr>
          <p:cNvPr id="23" name="Text 20"/>
          <p:cNvSpPr/>
          <p:nvPr/>
        </p:nvSpPr>
        <p:spPr>
          <a:xfrm>
            <a:off x="896112" y="4809744"/>
            <a:ext cx="5294376" cy="320040"/>
          </a:xfrm>
          <a:prstGeom prst="rect">
            <a:avLst/>
          </a:prstGeom>
          <a:noFill/>
          <a:ln/>
        </p:spPr>
        <p:txBody>
          <a:bodyPr wrap="square" lIns="0" tIns="0" rIns="0" bIns="0" rtlCol="0" anchor="ctr"/>
          <a:lstStyle/>
          <a:p>
            <a:pPr indent="0" marL="0">
              <a:buNone/>
            </a:pPr>
            <a:r>
              <a:rPr lang="en-US" sz="1350" dirty="0">
                <a:solidFill>
                  <a:srgbClr val="243746"/>
                </a:solidFill>
                <a:latin typeface="Liberation Sans" pitchFamily="34" charset="0"/>
                <a:ea typeface="Liberation Sans" pitchFamily="34" charset="-122"/>
                <a:cs typeface="Liberation Sans" pitchFamily="34" charset="-120"/>
              </a:rPr>
              <a:t>Beam 16 winner; factuality-heavy fusion beat likelihood-heavy settings.</a:t>
            </a:r>
            <a:endParaRPr lang="en-US" sz="1350" dirty="0"/>
          </a:p>
        </p:txBody>
      </p:sp>
      <p:pic>
        <p:nvPicPr>
          <p:cNvPr id="24" name="Image 1" descr="/home/bjorn/repos/berkeley/factuality-rerank-xsum/outputs/final/figures/pareto_frontier.png">    </p:cNvPr>
          <p:cNvPicPr>
            <a:picLocks noChangeAspect="1"/>
          </p:cNvPicPr>
          <p:nvPr/>
        </p:nvPicPr>
        <p:blipFill>
          <a:blip r:embed="rId2"/>
          <a:stretch>
            <a:fillRect/>
          </a:stretch>
        </p:blipFill>
        <p:spPr>
          <a:xfrm>
            <a:off x="6510528" y="2308486"/>
            <a:ext cx="4956048" cy="3292589"/>
          </a:xfrm>
          <a:prstGeom prst="rect">
            <a:avLst/>
          </a:prstGeom>
        </p:spPr>
      </p:pic>
      <p:sp>
        <p:nvSpPr>
          <p:cNvPr id="25" name="Text 21"/>
          <p:cNvSpPr/>
          <p:nvPr/>
        </p:nvSpPr>
        <p:spPr>
          <a:xfrm>
            <a:off x="6565392" y="5650992"/>
            <a:ext cx="4754880" cy="201168"/>
          </a:xfrm>
          <a:prstGeom prst="rect">
            <a:avLst/>
          </a:prstGeom>
          <a:noFill/>
          <a:ln/>
        </p:spPr>
        <p:txBody>
          <a:bodyPr wrap="square" lIns="0" tIns="0" rIns="0" bIns="0" rtlCol="0" anchor="ctr"/>
          <a:lstStyle/>
          <a:p>
            <a:pPr indent="0" marL="0">
              <a:buNone/>
            </a:pPr>
            <a:r>
              <a:rPr lang="en-US" sz="1250" i="1" dirty="0">
                <a:solidFill>
                  <a:srgbClr val="5F6B78"/>
                </a:solidFill>
                <a:latin typeface="Liberation Sans" pitchFamily="34" charset="0"/>
                <a:ea typeface="Liberation Sans" pitchFamily="34" charset="-122"/>
                <a:cs typeface="Liberation Sans" pitchFamily="34" charset="-120"/>
              </a:rPr>
              <a:t>Selected final stays near the high-factuality knee rather than the highest-ROUGE point.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84048"/>
            <a:ext cx="2377440"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ANALYSIS</a:t>
            </a:r>
            <a:endParaRPr lang="en-US" sz="1100" dirty="0"/>
          </a:p>
        </p:txBody>
      </p:sp>
      <p:sp>
        <p:nvSpPr>
          <p:cNvPr id="3" name="Text 1"/>
          <p:cNvSpPr/>
          <p:nvPr/>
        </p:nvSpPr>
        <p:spPr>
          <a:xfrm>
            <a:off x="621792" y="603504"/>
            <a:ext cx="10607040" cy="475488"/>
          </a:xfrm>
          <a:prstGeom prst="rect">
            <a:avLst/>
          </a:prstGeom>
          <a:noFill/>
          <a:ln/>
        </p:spPr>
        <p:txBody>
          <a:bodyPr wrap="square" lIns="0" tIns="0" rIns="0" bIns="0" rtlCol="0" anchor="ctr"/>
          <a:lstStyle/>
          <a:p>
            <a:pPr indent="0" marL="0">
              <a:buNone/>
            </a:pPr>
            <a:r>
              <a:rPr lang="en-US" sz="2400" b="1" dirty="0">
                <a:solidFill>
                  <a:srgbClr val="003262"/>
                </a:solidFill>
                <a:latin typeface="Liberation Sans" pitchFamily="34" charset="0"/>
                <a:ea typeface="Liberation Sans" pitchFamily="34" charset="-122"/>
                <a:cs typeface="Liberation Sans" pitchFamily="34" charset="-120"/>
              </a:rPr>
              <a:t>The main remaining failure mode is entity distortion</a:t>
            </a:r>
            <a:endParaRPr lang="en-US" sz="2400" dirty="0"/>
          </a:p>
        </p:txBody>
      </p:sp>
      <p:sp>
        <p:nvSpPr>
          <p:cNvPr id="4" name="Shape 2"/>
          <p:cNvSpPr/>
          <p:nvPr/>
        </p:nvSpPr>
        <p:spPr>
          <a:xfrm>
            <a:off x="621792" y="1207008"/>
            <a:ext cx="10835640" cy="0"/>
          </a:xfrm>
          <a:prstGeom prst="line">
            <a:avLst/>
          </a:prstGeom>
          <a:noFill/>
          <a:ln w="15240">
            <a:solidFill>
              <a:srgbClr val="FDB515"/>
            </a:solidFill>
            <a:prstDash val="solid"/>
          </a:ln>
        </p:spPr>
      </p:sp>
      <p:sp>
        <p:nvSpPr>
          <p:cNvPr id="5" name="Text 3"/>
          <p:cNvSpPr/>
          <p:nvPr/>
        </p:nvSpPr>
        <p:spPr>
          <a:xfrm>
            <a:off x="621792" y="1280160"/>
            <a:ext cx="10332720" cy="310896"/>
          </a:xfrm>
          <a:prstGeom prst="rect">
            <a:avLst/>
          </a:prstGeom>
          <a:noFill/>
          <a:ln/>
        </p:spPr>
        <p:txBody>
          <a:bodyPr wrap="square" lIns="0" tIns="0" rIns="0" bIns="0" rtlCol="0" anchor="ctr"/>
          <a:lstStyle/>
          <a:p>
            <a:pPr indent="0" marL="0">
              <a:buNone/>
            </a:pPr>
            <a:r>
              <a:rPr lang="en-US" sz="1300" i="1" dirty="0">
                <a:solidFill>
                  <a:srgbClr val="5F6B78"/>
                </a:solidFill>
                <a:latin typeface="Liberation Sans" pitchFamily="34" charset="0"/>
                <a:ea typeface="Liberation Sans" pitchFamily="34" charset="-122"/>
                <a:cs typeface="Liberation Sans" pitchFamily="34" charset="-120"/>
              </a:rPr>
              <a:t>The reranker helps, but most of the remaining misses are still entity errors.</a:t>
            </a:r>
            <a:endParaRPr lang="en-US" sz="1300" dirty="0"/>
          </a:p>
        </p:txBody>
      </p:sp>
      <p:pic>
        <p:nvPicPr>
          <p:cNvPr id="6" name="Image 0" descr="/home/bjorn/repos/berkeley/factuality-rerank-xsum/docs/final-report/slides/assets/berkeley_soi_logo.png">    </p:cNvPr>
          <p:cNvPicPr>
            <a:picLocks noChangeAspect="1"/>
          </p:cNvPicPr>
          <p:nvPr/>
        </p:nvPicPr>
        <p:blipFill>
          <a:blip r:embed="rId1"/>
          <a:stretch>
            <a:fillRect/>
          </a:stretch>
        </p:blipFill>
        <p:spPr>
          <a:xfrm>
            <a:off x="386979" y="6327648"/>
            <a:ext cx="1594338" cy="310896"/>
          </a:xfrm>
          <a:prstGeom prst="rect">
            <a:avLst/>
          </a:prstGeom>
        </p:spPr>
      </p:pic>
      <p:sp>
        <p:nvSpPr>
          <p:cNvPr id="7" name="Text 4"/>
          <p:cNvSpPr/>
          <p:nvPr/>
        </p:nvSpPr>
        <p:spPr>
          <a:xfrm>
            <a:off x="11292840" y="6336792"/>
            <a:ext cx="411480" cy="164592"/>
          </a:xfrm>
          <a:prstGeom prst="rect">
            <a:avLst/>
          </a:prstGeom>
          <a:noFill/>
          <a:ln/>
        </p:spPr>
        <p:txBody>
          <a:bodyPr wrap="square" lIns="0" tIns="0" rIns="0" bIns="0" rtlCol="0" anchor="ctr"/>
          <a:lstStyle/>
          <a:p>
            <a:pPr algn="r" indent="0" marL="0">
              <a:buNone/>
            </a:pPr>
            <a:r>
              <a:rPr lang="en-US" sz="1000" dirty="0">
                <a:solidFill>
                  <a:srgbClr val="5F6B78"/>
                </a:solidFill>
                <a:latin typeface="Liberation Sans" pitchFamily="34" charset="0"/>
                <a:ea typeface="Liberation Sans" pitchFamily="34" charset="-122"/>
                <a:cs typeface="Liberation Sans" pitchFamily="34" charset="-120"/>
              </a:rPr>
              <a:t>6</a:t>
            </a:r>
            <a:endParaRPr lang="en-US" sz="1000" dirty="0"/>
          </a:p>
        </p:txBody>
      </p:sp>
      <p:pic>
        <p:nvPicPr>
          <p:cNvPr id="8" name="Image 1" descr="/home/bjorn/repos/berkeley/factuality-rerank-xsum/outputs/final/figures/error_taxonomy.png">    </p:cNvPr>
          <p:cNvPicPr>
            <a:picLocks noChangeAspect="1"/>
          </p:cNvPicPr>
          <p:nvPr/>
        </p:nvPicPr>
        <p:blipFill>
          <a:blip r:embed="rId2"/>
          <a:stretch>
            <a:fillRect/>
          </a:stretch>
        </p:blipFill>
        <p:spPr>
          <a:xfrm>
            <a:off x="658368" y="2154617"/>
            <a:ext cx="5440680" cy="2960246"/>
          </a:xfrm>
          <a:prstGeom prst="rect">
            <a:avLst/>
          </a:prstGeom>
        </p:spPr>
      </p:pic>
      <p:sp>
        <p:nvSpPr>
          <p:cNvPr id="9" name="Text 5"/>
          <p:cNvSpPr/>
          <p:nvPr/>
        </p:nvSpPr>
        <p:spPr>
          <a:xfrm>
            <a:off x="6355080" y="1847088"/>
            <a:ext cx="4754880" cy="2834640"/>
          </a:xfrm>
          <a:prstGeom prst="rect">
            <a:avLst/>
          </a:prstGeom>
          <a:noFill/>
          <a:ln/>
        </p:spPr>
        <p:txBody>
          <a:bodyPr wrap="square" lIns="0" tIns="0" rIns="0" bIns="0" rtlCol="0" anchor="t"/>
          <a:lstStyle/>
          <a:p>
            <a:pPr marL="203200" indent="-203200">
              <a:buSzPct val="100000"/>
              <a:buChar char="•"/>
            </a:pPr>
            <a:r>
              <a:rPr lang="en-US" sz="1720" dirty="0">
                <a:solidFill>
                  <a:srgbClr val="243746"/>
                </a:solidFill>
                <a:latin typeface="Liberation Sans" pitchFamily="34" charset="0"/>
                <a:ea typeface="Liberation Sans" pitchFamily="34" charset="-122"/>
                <a:cs typeface="Liberation Sans" pitchFamily="34" charset="-120"/>
              </a:rPr>
              <a:t>24-example stratified review with Codex / AI-assisted expert adjudication.</a:t>
            </a:r>
            <a:endParaRPr lang="en-US" sz="1720" dirty="0"/>
          </a:p>
          <a:p>
            <a:pPr marL="203200" indent="-203200">
              <a:buSzPct val="100000"/>
              <a:buChar char="•"/>
            </a:pPr>
            <a:r>
              <a:rPr lang="en-US" sz="1720" dirty="0">
                <a:solidFill>
                  <a:srgbClr val="243746"/>
                </a:solidFill>
                <a:latin typeface="Liberation Sans" pitchFamily="34" charset="0"/>
                <a:ea typeface="Liberation Sans" pitchFamily="34" charset="-122"/>
                <a:cs typeface="Liberation Sans" pitchFamily="34" charset="-120"/>
              </a:rPr>
              <a:t>Outcome split is balanced: reranker 8, baseline 8, tie or close 8.</a:t>
            </a:r>
            <a:endParaRPr lang="en-US" sz="1720" dirty="0"/>
          </a:p>
          <a:p>
            <a:pPr marL="203200" indent="-203200">
              <a:buSzPct val="100000"/>
              <a:buChar char="•"/>
            </a:pPr>
            <a:r>
              <a:rPr lang="en-US" sz="1720" dirty="0">
                <a:solidFill>
                  <a:srgbClr val="243746"/>
                </a:solidFill>
                <a:latin typeface="Liberation Sans" pitchFamily="34" charset="0"/>
                <a:ea typeface="Liberation Sans" pitchFamily="34" charset="-122"/>
                <a:cs typeface="Liberation Sans" pitchFamily="34" charset="-120"/>
              </a:rPr>
              <a:t>Entity distortion dominates the remaining errors (13 of 24); number/date and polarity are smaller.</a:t>
            </a:r>
            <a:endParaRPr lang="en-US" sz="1720" dirty="0"/>
          </a:p>
        </p:txBody>
      </p:sp>
      <p:sp>
        <p:nvSpPr>
          <p:cNvPr id="10" name="Shape 6"/>
          <p:cNvSpPr/>
          <p:nvPr/>
        </p:nvSpPr>
        <p:spPr>
          <a:xfrm>
            <a:off x="6355080" y="4828032"/>
            <a:ext cx="4754880" cy="932688"/>
          </a:xfrm>
          <a:prstGeom prst="roundRect">
            <a:avLst>
              <a:gd name="adj" fmla="val 5882"/>
            </a:avLst>
          </a:prstGeom>
          <a:solidFill>
            <a:srgbClr val="F7F9FB"/>
          </a:solidFill>
          <a:ln w="12700">
            <a:solidFill>
              <a:srgbClr val="D9E0E7"/>
            </a:solidFill>
            <a:prstDash val="solid"/>
          </a:ln>
        </p:spPr>
      </p:sp>
      <p:sp>
        <p:nvSpPr>
          <p:cNvPr id="11" name="Text 7"/>
          <p:cNvSpPr/>
          <p:nvPr/>
        </p:nvSpPr>
        <p:spPr>
          <a:xfrm>
            <a:off x="6519672" y="4956048"/>
            <a:ext cx="442569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Bounded claim</a:t>
            </a:r>
            <a:endParaRPr lang="en-US" sz="1100" dirty="0"/>
          </a:p>
        </p:txBody>
      </p:sp>
      <p:sp>
        <p:nvSpPr>
          <p:cNvPr id="12" name="Text 8"/>
          <p:cNvSpPr/>
          <p:nvPr/>
        </p:nvSpPr>
        <p:spPr>
          <a:xfrm>
            <a:off x="6519672" y="5157216"/>
            <a:ext cx="4425696" cy="475488"/>
          </a:xfrm>
          <a:prstGeom prst="rect">
            <a:avLst/>
          </a:prstGeom>
          <a:noFill/>
          <a:ln/>
        </p:spPr>
        <p:txBody>
          <a:bodyPr wrap="square" lIns="0" tIns="0" rIns="0" bIns="0" rtlCol="0" anchor="ctr"/>
          <a:lstStyle/>
          <a:p>
            <a:pPr indent="0" marL="0">
              <a:buNone/>
            </a:pPr>
            <a:r>
              <a:rPr lang="en-US" sz="1320" dirty="0">
                <a:solidFill>
                  <a:srgbClr val="243746"/>
                </a:solidFill>
                <a:latin typeface="Liberation Sans" pitchFamily="34" charset="0"/>
                <a:ea typeface="Liberation Sans" pitchFamily="34" charset="-122"/>
                <a:cs typeface="Liberation Sans" pitchFamily="34" charset="-120"/>
              </a:rPr>
              <a:t>Directional improvement, not benchmark-scale proof: this supports the approach, not a claim about XSum overall.</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84048"/>
            <a:ext cx="2377440"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TAKEAWAYS</a:t>
            </a:r>
            <a:endParaRPr lang="en-US" sz="1100" dirty="0"/>
          </a:p>
        </p:txBody>
      </p:sp>
      <p:sp>
        <p:nvSpPr>
          <p:cNvPr id="3" name="Text 1"/>
          <p:cNvSpPr/>
          <p:nvPr/>
        </p:nvSpPr>
        <p:spPr>
          <a:xfrm>
            <a:off x="621792" y="603504"/>
            <a:ext cx="10607040" cy="475488"/>
          </a:xfrm>
          <a:prstGeom prst="rect">
            <a:avLst/>
          </a:prstGeom>
          <a:noFill/>
          <a:ln/>
        </p:spPr>
        <p:txBody>
          <a:bodyPr wrap="square" lIns="0" tIns="0" rIns="0" bIns="0" rtlCol="0" anchor="ctr"/>
          <a:lstStyle/>
          <a:p>
            <a:pPr indent="0" marL="0">
              <a:buNone/>
            </a:pPr>
            <a:r>
              <a:rPr lang="en-US" sz="2400" b="1" dirty="0">
                <a:solidFill>
                  <a:srgbClr val="003262"/>
                </a:solidFill>
                <a:latin typeface="Liberation Sans" pitchFamily="34" charset="0"/>
                <a:ea typeface="Liberation Sans" pitchFamily="34" charset="-122"/>
                <a:cs typeface="Liberation Sans" pitchFamily="34" charset="-120"/>
              </a:rPr>
              <a:t>Reranking helps, but entity grounding is still the bottleneck</a:t>
            </a:r>
            <a:endParaRPr lang="en-US" sz="2400" dirty="0"/>
          </a:p>
        </p:txBody>
      </p:sp>
      <p:sp>
        <p:nvSpPr>
          <p:cNvPr id="4" name="Shape 2"/>
          <p:cNvSpPr/>
          <p:nvPr/>
        </p:nvSpPr>
        <p:spPr>
          <a:xfrm>
            <a:off x="621792" y="1207008"/>
            <a:ext cx="10835640" cy="0"/>
          </a:xfrm>
          <a:prstGeom prst="line">
            <a:avLst/>
          </a:prstGeom>
          <a:noFill/>
          <a:ln w="15240">
            <a:solidFill>
              <a:srgbClr val="FDB515"/>
            </a:solidFill>
            <a:prstDash val="solid"/>
          </a:ln>
        </p:spPr>
      </p:sp>
      <p:sp>
        <p:nvSpPr>
          <p:cNvPr id="5" name="Text 3"/>
          <p:cNvSpPr/>
          <p:nvPr/>
        </p:nvSpPr>
        <p:spPr>
          <a:xfrm>
            <a:off x="621792" y="1280160"/>
            <a:ext cx="10332720" cy="310896"/>
          </a:xfrm>
          <a:prstGeom prst="rect">
            <a:avLst/>
          </a:prstGeom>
          <a:noFill/>
          <a:ln/>
        </p:spPr>
        <p:txBody>
          <a:bodyPr wrap="square" lIns="0" tIns="0" rIns="0" bIns="0" rtlCol="0" anchor="ctr"/>
          <a:lstStyle/>
          <a:p>
            <a:pPr indent="0" marL="0">
              <a:buNone/>
            </a:pPr>
            <a:r>
              <a:rPr lang="en-US" sz="1300" i="1" dirty="0">
                <a:solidFill>
                  <a:srgbClr val="5F6B78"/>
                </a:solidFill>
                <a:latin typeface="Liberation Sans" pitchFamily="34" charset="0"/>
                <a:ea typeface="Liberation Sans" pitchFamily="34" charset="-122"/>
                <a:cs typeface="Liberation Sans" pitchFamily="34" charset="-120"/>
              </a:rPr>
              <a:t>Useful gain now; the strongest next step is better entity preservation.</a:t>
            </a:r>
            <a:endParaRPr lang="en-US" sz="1300" dirty="0"/>
          </a:p>
        </p:txBody>
      </p:sp>
      <p:pic>
        <p:nvPicPr>
          <p:cNvPr id="6" name="Image 0" descr="/home/bjorn/repos/berkeley/factuality-rerank-xsum/docs/final-report/slides/assets/berkeley_soi_logo.png">    </p:cNvPr>
          <p:cNvPicPr>
            <a:picLocks noChangeAspect="1"/>
          </p:cNvPicPr>
          <p:nvPr/>
        </p:nvPicPr>
        <p:blipFill>
          <a:blip r:embed="rId1"/>
          <a:stretch>
            <a:fillRect/>
          </a:stretch>
        </p:blipFill>
        <p:spPr>
          <a:xfrm>
            <a:off x="386979" y="6327648"/>
            <a:ext cx="1594338" cy="310896"/>
          </a:xfrm>
          <a:prstGeom prst="rect">
            <a:avLst/>
          </a:prstGeom>
        </p:spPr>
      </p:pic>
      <p:sp>
        <p:nvSpPr>
          <p:cNvPr id="7" name="Text 4"/>
          <p:cNvSpPr/>
          <p:nvPr/>
        </p:nvSpPr>
        <p:spPr>
          <a:xfrm>
            <a:off x="11292840" y="6336792"/>
            <a:ext cx="411480" cy="164592"/>
          </a:xfrm>
          <a:prstGeom prst="rect">
            <a:avLst/>
          </a:prstGeom>
          <a:noFill/>
          <a:ln/>
        </p:spPr>
        <p:txBody>
          <a:bodyPr wrap="square" lIns="0" tIns="0" rIns="0" bIns="0" rtlCol="0" anchor="ctr"/>
          <a:lstStyle/>
          <a:p>
            <a:pPr algn="r" indent="0" marL="0">
              <a:buNone/>
            </a:pPr>
            <a:r>
              <a:rPr lang="en-US" sz="1000" dirty="0">
                <a:solidFill>
                  <a:srgbClr val="5F6B78"/>
                </a:solidFill>
                <a:latin typeface="Liberation Sans" pitchFamily="34" charset="0"/>
                <a:ea typeface="Liberation Sans" pitchFamily="34" charset="-122"/>
                <a:cs typeface="Liberation Sans" pitchFamily="34" charset="-120"/>
              </a:rPr>
              <a:t>7</a:t>
            </a:r>
            <a:endParaRPr lang="en-US" sz="1000" dirty="0"/>
          </a:p>
        </p:txBody>
      </p:sp>
      <p:sp>
        <p:nvSpPr>
          <p:cNvPr id="8" name="Shape 5"/>
          <p:cNvSpPr/>
          <p:nvPr/>
        </p:nvSpPr>
        <p:spPr>
          <a:xfrm>
            <a:off x="749808" y="1783080"/>
            <a:ext cx="4983480" cy="987552"/>
          </a:xfrm>
          <a:prstGeom prst="roundRect">
            <a:avLst>
              <a:gd name="adj" fmla="val 4630"/>
            </a:avLst>
          </a:prstGeom>
          <a:solidFill>
            <a:srgbClr val="F7F9FB"/>
          </a:solidFill>
          <a:ln w="12700">
            <a:solidFill>
              <a:srgbClr val="D9E0E7"/>
            </a:solidFill>
            <a:prstDash val="solid"/>
          </a:ln>
        </p:spPr>
      </p:sp>
      <p:sp>
        <p:nvSpPr>
          <p:cNvPr id="9" name="Shape 6"/>
          <p:cNvSpPr/>
          <p:nvPr/>
        </p:nvSpPr>
        <p:spPr>
          <a:xfrm>
            <a:off x="914400" y="1947672"/>
            <a:ext cx="384048" cy="384048"/>
          </a:xfrm>
          <a:prstGeom prst="ellipse">
            <a:avLst/>
          </a:prstGeom>
          <a:solidFill>
            <a:srgbClr val="FDB515"/>
          </a:solidFill>
          <a:ln w="12700">
            <a:solidFill>
              <a:srgbClr val="FDB515"/>
            </a:solidFill>
            <a:prstDash val="solid"/>
          </a:ln>
        </p:spPr>
      </p:sp>
      <p:sp>
        <p:nvSpPr>
          <p:cNvPr id="10" name="Text 7"/>
          <p:cNvSpPr/>
          <p:nvPr/>
        </p:nvSpPr>
        <p:spPr>
          <a:xfrm>
            <a:off x="914400" y="1970532"/>
            <a:ext cx="384048" cy="182880"/>
          </a:xfrm>
          <a:prstGeom prst="rect">
            <a:avLst/>
          </a:prstGeom>
          <a:noFill/>
          <a:ln/>
        </p:spPr>
        <p:txBody>
          <a:bodyPr wrap="square" lIns="0" tIns="0" rIns="0" bIns="0" rtlCol="0" anchor="ctr"/>
          <a:lstStyle/>
          <a:p>
            <a:pPr algn="ctr" indent="0" marL="0">
              <a:buNone/>
            </a:pPr>
            <a:r>
              <a:rPr lang="en-US" sz="1300" b="1" dirty="0">
                <a:solidFill>
                  <a:srgbClr val="003262"/>
                </a:solidFill>
                <a:latin typeface="Liberation Sans" pitchFamily="34" charset="0"/>
                <a:ea typeface="Liberation Sans" pitchFamily="34" charset="-122"/>
                <a:cs typeface="Liberation Sans" pitchFamily="34" charset="-120"/>
              </a:rPr>
              <a:t>1</a:t>
            </a:r>
            <a:endParaRPr lang="en-US" sz="1300" dirty="0"/>
          </a:p>
        </p:txBody>
      </p:sp>
      <p:sp>
        <p:nvSpPr>
          <p:cNvPr id="11" name="Text 8"/>
          <p:cNvSpPr/>
          <p:nvPr/>
        </p:nvSpPr>
        <p:spPr>
          <a:xfrm>
            <a:off x="1408176" y="1929384"/>
            <a:ext cx="4160520" cy="219456"/>
          </a:xfrm>
          <a:prstGeom prst="rect">
            <a:avLst/>
          </a:prstGeom>
          <a:noFill/>
          <a:ln/>
        </p:spPr>
        <p:txBody>
          <a:bodyPr wrap="square" lIns="0" tIns="0" rIns="0" bIns="0" rtlCol="0" anchor="ctr"/>
          <a:lstStyle/>
          <a:p>
            <a:pPr indent="0" marL="0">
              <a:buNone/>
            </a:pPr>
            <a:r>
              <a:rPr lang="en-US" sz="1500" b="1" dirty="0">
                <a:solidFill>
                  <a:srgbClr val="003262"/>
                </a:solidFill>
                <a:latin typeface="Liberation Sans" pitchFamily="34" charset="0"/>
                <a:ea typeface="Liberation Sans" pitchFamily="34" charset="-122"/>
                <a:cs typeface="Liberation Sans" pitchFamily="34" charset="-120"/>
              </a:rPr>
              <a:t>Main result</a:t>
            </a:r>
            <a:endParaRPr lang="en-US" sz="1500" dirty="0"/>
          </a:p>
        </p:txBody>
      </p:sp>
      <p:sp>
        <p:nvSpPr>
          <p:cNvPr id="12" name="Text 9"/>
          <p:cNvSpPr/>
          <p:nvPr/>
        </p:nvSpPr>
        <p:spPr>
          <a:xfrm>
            <a:off x="1408176" y="2203704"/>
            <a:ext cx="4160520" cy="420624"/>
          </a:xfrm>
          <a:prstGeom prst="rect">
            <a:avLst/>
          </a:prstGeom>
          <a:noFill/>
          <a:ln/>
        </p:spPr>
        <p:txBody>
          <a:bodyPr wrap="square" lIns="0" tIns="0" rIns="0" bIns="0" rtlCol="0" anchor="ctr"/>
          <a:lstStyle/>
          <a:p>
            <a:pPr indent="0" marL="0">
              <a:buNone/>
            </a:pPr>
            <a:r>
              <a:rPr lang="en-US" sz="1350" dirty="0">
                <a:solidFill>
                  <a:srgbClr val="243746"/>
                </a:solidFill>
                <a:latin typeface="Liberation Sans" pitchFamily="34" charset="0"/>
                <a:ea typeface="Liberation Sans" pitchFamily="34" charset="-122"/>
                <a:cs typeface="Liberation Sans" pitchFamily="34" charset="-120"/>
              </a:rPr>
              <a:t>A lightweight reranker materially improves factuality on this bounded XSum run.</a:t>
            </a:r>
            <a:endParaRPr lang="en-US" sz="1350" dirty="0"/>
          </a:p>
        </p:txBody>
      </p:sp>
      <p:sp>
        <p:nvSpPr>
          <p:cNvPr id="13" name="Shape 10"/>
          <p:cNvSpPr/>
          <p:nvPr/>
        </p:nvSpPr>
        <p:spPr>
          <a:xfrm>
            <a:off x="749808" y="2944368"/>
            <a:ext cx="4983480" cy="987552"/>
          </a:xfrm>
          <a:prstGeom prst="roundRect">
            <a:avLst>
              <a:gd name="adj" fmla="val 4630"/>
            </a:avLst>
          </a:prstGeom>
          <a:solidFill>
            <a:srgbClr val="F7F9FB"/>
          </a:solidFill>
          <a:ln w="12700">
            <a:solidFill>
              <a:srgbClr val="D9E0E7"/>
            </a:solidFill>
            <a:prstDash val="solid"/>
          </a:ln>
        </p:spPr>
      </p:sp>
      <p:sp>
        <p:nvSpPr>
          <p:cNvPr id="14" name="Shape 11"/>
          <p:cNvSpPr/>
          <p:nvPr/>
        </p:nvSpPr>
        <p:spPr>
          <a:xfrm>
            <a:off x="914400" y="3108960"/>
            <a:ext cx="384048" cy="384048"/>
          </a:xfrm>
          <a:prstGeom prst="ellipse">
            <a:avLst/>
          </a:prstGeom>
          <a:solidFill>
            <a:srgbClr val="FDB515"/>
          </a:solidFill>
          <a:ln w="12700">
            <a:solidFill>
              <a:srgbClr val="FDB515"/>
            </a:solidFill>
            <a:prstDash val="solid"/>
          </a:ln>
        </p:spPr>
      </p:sp>
      <p:sp>
        <p:nvSpPr>
          <p:cNvPr id="15" name="Text 12"/>
          <p:cNvSpPr/>
          <p:nvPr/>
        </p:nvSpPr>
        <p:spPr>
          <a:xfrm>
            <a:off x="914400" y="3131820"/>
            <a:ext cx="384048" cy="182880"/>
          </a:xfrm>
          <a:prstGeom prst="rect">
            <a:avLst/>
          </a:prstGeom>
          <a:noFill/>
          <a:ln/>
        </p:spPr>
        <p:txBody>
          <a:bodyPr wrap="square" lIns="0" tIns="0" rIns="0" bIns="0" rtlCol="0" anchor="ctr"/>
          <a:lstStyle/>
          <a:p>
            <a:pPr algn="ctr" indent="0" marL="0">
              <a:buNone/>
            </a:pPr>
            <a:r>
              <a:rPr lang="en-US" sz="1300" b="1" dirty="0">
                <a:solidFill>
                  <a:srgbClr val="003262"/>
                </a:solidFill>
                <a:latin typeface="Liberation Sans" pitchFamily="34" charset="0"/>
                <a:ea typeface="Liberation Sans" pitchFamily="34" charset="-122"/>
                <a:cs typeface="Liberation Sans" pitchFamily="34" charset="-120"/>
              </a:rPr>
              <a:t>2</a:t>
            </a:r>
            <a:endParaRPr lang="en-US" sz="1300" dirty="0"/>
          </a:p>
        </p:txBody>
      </p:sp>
      <p:sp>
        <p:nvSpPr>
          <p:cNvPr id="16" name="Text 13"/>
          <p:cNvSpPr/>
          <p:nvPr/>
        </p:nvSpPr>
        <p:spPr>
          <a:xfrm>
            <a:off x="1408176" y="3090672"/>
            <a:ext cx="4160520" cy="219456"/>
          </a:xfrm>
          <a:prstGeom prst="rect">
            <a:avLst/>
          </a:prstGeom>
          <a:noFill/>
          <a:ln/>
        </p:spPr>
        <p:txBody>
          <a:bodyPr wrap="square" lIns="0" tIns="0" rIns="0" bIns="0" rtlCol="0" anchor="ctr"/>
          <a:lstStyle/>
          <a:p>
            <a:pPr indent="0" marL="0">
              <a:buNone/>
            </a:pPr>
            <a:r>
              <a:rPr lang="en-US" sz="1500" b="1" dirty="0">
                <a:solidFill>
                  <a:srgbClr val="003262"/>
                </a:solidFill>
                <a:latin typeface="Liberation Sans" pitchFamily="34" charset="0"/>
                <a:ea typeface="Liberation Sans" pitchFamily="34" charset="-122"/>
                <a:cs typeface="Liberation Sans" pitchFamily="34" charset="-120"/>
              </a:rPr>
              <a:t>Main limitation</a:t>
            </a:r>
            <a:endParaRPr lang="en-US" sz="1500" dirty="0"/>
          </a:p>
        </p:txBody>
      </p:sp>
      <p:sp>
        <p:nvSpPr>
          <p:cNvPr id="17" name="Text 14"/>
          <p:cNvSpPr/>
          <p:nvPr/>
        </p:nvSpPr>
        <p:spPr>
          <a:xfrm>
            <a:off x="1408176" y="3364992"/>
            <a:ext cx="4160520" cy="420624"/>
          </a:xfrm>
          <a:prstGeom prst="rect">
            <a:avLst/>
          </a:prstGeom>
          <a:noFill/>
          <a:ln/>
        </p:spPr>
        <p:txBody>
          <a:bodyPr wrap="square" lIns="0" tIns="0" rIns="0" bIns="0" rtlCol="0" anchor="ctr"/>
          <a:lstStyle/>
          <a:p>
            <a:pPr indent="0" marL="0">
              <a:buNone/>
            </a:pPr>
            <a:r>
              <a:rPr lang="en-US" sz="1350" dirty="0">
                <a:solidFill>
                  <a:srgbClr val="243746"/>
                </a:solidFill>
                <a:latin typeface="Liberation Sans" pitchFamily="34" charset="0"/>
                <a:ea typeface="Liberation Sans" pitchFamily="34" charset="-122"/>
                <a:cs typeface="Liberation Sans" pitchFamily="34" charset="-120"/>
              </a:rPr>
              <a:t>Entity-level mistakes still dominate when all beam candidates drift toward the same wrong fact.</a:t>
            </a:r>
            <a:endParaRPr lang="en-US" sz="1350" dirty="0"/>
          </a:p>
        </p:txBody>
      </p:sp>
      <p:sp>
        <p:nvSpPr>
          <p:cNvPr id="18" name="Shape 15"/>
          <p:cNvSpPr/>
          <p:nvPr/>
        </p:nvSpPr>
        <p:spPr>
          <a:xfrm>
            <a:off x="749808" y="4105656"/>
            <a:ext cx="4983480" cy="987552"/>
          </a:xfrm>
          <a:prstGeom prst="roundRect">
            <a:avLst>
              <a:gd name="adj" fmla="val 4630"/>
            </a:avLst>
          </a:prstGeom>
          <a:solidFill>
            <a:srgbClr val="F7F9FB"/>
          </a:solidFill>
          <a:ln w="12700">
            <a:solidFill>
              <a:srgbClr val="D9E0E7"/>
            </a:solidFill>
            <a:prstDash val="solid"/>
          </a:ln>
        </p:spPr>
      </p:sp>
      <p:sp>
        <p:nvSpPr>
          <p:cNvPr id="19" name="Shape 16"/>
          <p:cNvSpPr/>
          <p:nvPr/>
        </p:nvSpPr>
        <p:spPr>
          <a:xfrm>
            <a:off x="914400" y="4270248"/>
            <a:ext cx="384048" cy="384048"/>
          </a:xfrm>
          <a:prstGeom prst="ellipse">
            <a:avLst/>
          </a:prstGeom>
          <a:solidFill>
            <a:srgbClr val="FDB515"/>
          </a:solidFill>
          <a:ln w="12700">
            <a:solidFill>
              <a:srgbClr val="FDB515"/>
            </a:solidFill>
            <a:prstDash val="solid"/>
          </a:ln>
        </p:spPr>
      </p:sp>
      <p:sp>
        <p:nvSpPr>
          <p:cNvPr id="20" name="Text 17"/>
          <p:cNvSpPr/>
          <p:nvPr/>
        </p:nvSpPr>
        <p:spPr>
          <a:xfrm>
            <a:off x="914400" y="4293108"/>
            <a:ext cx="384048" cy="182880"/>
          </a:xfrm>
          <a:prstGeom prst="rect">
            <a:avLst/>
          </a:prstGeom>
          <a:noFill/>
          <a:ln/>
        </p:spPr>
        <p:txBody>
          <a:bodyPr wrap="square" lIns="0" tIns="0" rIns="0" bIns="0" rtlCol="0" anchor="ctr"/>
          <a:lstStyle/>
          <a:p>
            <a:pPr algn="ctr" indent="0" marL="0">
              <a:buNone/>
            </a:pPr>
            <a:r>
              <a:rPr lang="en-US" sz="1300" b="1" dirty="0">
                <a:solidFill>
                  <a:srgbClr val="003262"/>
                </a:solidFill>
                <a:latin typeface="Liberation Sans" pitchFamily="34" charset="0"/>
                <a:ea typeface="Liberation Sans" pitchFamily="34" charset="-122"/>
                <a:cs typeface="Liberation Sans" pitchFamily="34" charset="-120"/>
              </a:rPr>
              <a:t>3</a:t>
            </a:r>
            <a:endParaRPr lang="en-US" sz="1300" dirty="0"/>
          </a:p>
        </p:txBody>
      </p:sp>
      <p:sp>
        <p:nvSpPr>
          <p:cNvPr id="21" name="Text 18"/>
          <p:cNvSpPr/>
          <p:nvPr/>
        </p:nvSpPr>
        <p:spPr>
          <a:xfrm>
            <a:off x="1408176" y="4251960"/>
            <a:ext cx="4160520" cy="219456"/>
          </a:xfrm>
          <a:prstGeom prst="rect">
            <a:avLst/>
          </a:prstGeom>
          <a:noFill/>
          <a:ln/>
        </p:spPr>
        <p:txBody>
          <a:bodyPr wrap="square" lIns="0" tIns="0" rIns="0" bIns="0" rtlCol="0" anchor="ctr"/>
          <a:lstStyle/>
          <a:p>
            <a:pPr indent="0" marL="0">
              <a:buNone/>
            </a:pPr>
            <a:r>
              <a:rPr lang="en-US" sz="1500" b="1" dirty="0">
                <a:solidFill>
                  <a:srgbClr val="003262"/>
                </a:solidFill>
                <a:latin typeface="Liberation Sans" pitchFamily="34" charset="0"/>
                <a:ea typeface="Liberation Sans" pitchFamily="34" charset="-122"/>
                <a:cs typeface="Liberation Sans" pitchFamily="34" charset="-120"/>
              </a:rPr>
              <a:t>Next iteration</a:t>
            </a:r>
            <a:endParaRPr lang="en-US" sz="1500" dirty="0"/>
          </a:p>
        </p:txBody>
      </p:sp>
      <p:sp>
        <p:nvSpPr>
          <p:cNvPr id="22" name="Text 19"/>
          <p:cNvSpPr/>
          <p:nvPr/>
        </p:nvSpPr>
        <p:spPr>
          <a:xfrm>
            <a:off x="1408176" y="4526280"/>
            <a:ext cx="4160520" cy="420624"/>
          </a:xfrm>
          <a:prstGeom prst="rect">
            <a:avLst/>
          </a:prstGeom>
          <a:noFill/>
          <a:ln/>
        </p:spPr>
        <p:txBody>
          <a:bodyPr wrap="square" lIns="0" tIns="0" rIns="0" bIns="0" rtlCol="0" anchor="ctr"/>
          <a:lstStyle/>
          <a:p>
            <a:pPr indent="0" marL="0">
              <a:buNone/>
            </a:pPr>
            <a:r>
              <a:rPr lang="en-US" sz="1350" dirty="0">
                <a:solidFill>
                  <a:srgbClr val="243746"/>
                </a:solidFill>
                <a:latin typeface="Liberation Sans" pitchFamily="34" charset="0"/>
                <a:ea typeface="Liberation Sans" pitchFamily="34" charset="-122"/>
                <a:cs typeface="Liberation Sans" pitchFamily="34" charset="-120"/>
              </a:rPr>
              <a:t>Broaden candidate diversity and add stronger entity-preservation constraints before scaling the evaluation.</a:t>
            </a:r>
            <a:endParaRPr lang="en-US" sz="1350" dirty="0"/>
          </a:p>
        </p:txBody>
      </p:sp>
      <p:sp>
        <p:nvSpPr>
          <p:cNvPr id="23" name="Shape 20"/>
          <p:cNvSpPr/>
          <p:nvPr/>
        </p:nvSpPr>
        <p:spPr>
          <a:xfrm>
            <a:off x="6080760" y="1874520"/>
            <a:ext cx="4617720" cy="1280160"/>
          </a:xfrm>
          <a:prstGeom prst="roundRect">
            <a:avLst>
              <a:gd name="adj" fmla="val 4286"/>
            </a:avLst>
          </a:prstGeom>
          <a:solidFill>
            <a:srgbClr val="FFFFFF"/>
          </a:solidFill>
          <a:ln w="12700">
            <a:solidFill>
              <a:srgbClr val="D9E0E7"/>
            </a:solidFill>
            <a:prstDash val="solid"/>
          </a:ln>
        </p:spPr>
      </p:sp>
      <p:sp>
        <p:nvSpPr>
          <p:cNvPr id="24" name="Text 21"/>
          <p:cNvSpPr/>
          <p:nvPr/>
        </p:nvSpPr>
        <p:spPr>
          <a:xfrm>
            <a:off x="6245352" y="2002536"/>
            <a:ext cx="428853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Why this matters</a:t>
            </a:r>
            <a:endParaRPr lang="en-US" sz="1100" dirty="0"/>
          </a:p>
        </p:txBody>
      </p:sp>
      <p:sp>
        <p:nvSpPr>
          <p:cNvPr id="25" name="Text 22"/>
          <p:cNvSpPr/>
          <p:nvPr/>
        </p:nvSpPr>
        <p:spPr>
          <a:xfrm>
            <a:off x="6245352" y="2203704"/>
            <a:ext cx="4288536" cy="822960"/>
          </a:xfrm>
          <a:prstGeom prst="rect">
            <a:avLst/>
          </a:prstGeom>
          <a:noFill/>
          <a:ln/>
        </p:spPr>
        <p:txBody>
          <a:bodyPr wrap="square" lIns="0" tIns="0" rIns="0" bIns="0" rtlCol="0" anchor="ctr"/>
          <a:lstStyle/>
          <a:p>
            <a:pPr indent="0" marL="0">
              <a:buNone/>
            </a:pPr>
            <a:r>
              <a:rPr lang="en-US" sz="1500" dirty="0">
                <a:solidFill>
                  <a:srgbClr val="243746"/>
                </a:solidFill>
                <a:latin typeface="Liberation Sans" pitchFamily="34" charset="0"/>
                <a:ea typeface="Liberation Sans" pitchFamily="34" charset="-122"/>
                <a:cs typeface="Liberation Sans" pitchFamily="34" charset="-120"/>
              </a:rPr>
              <a:t>It shows that a small, interpretable post-generation layer can improve factual quality without retraining a whole new architecture.</a:t>
            </a:r>
            <a:endParaRPr lang="en-US" sz="1500" dirty="0"/>
          </a:p>
        </p:txBody>
      </p:sp>
      <p:sp>
        <p:nvSpPr>
          <p:cNvPr id="26" name="Shape 23"/>
          <p:cNvSpPr/>
          <p:nvPr/>
        </p:nvSpPr>
        <p:spPr>
          <a:xfrm>
            <a:off x="6080760" y="3474720"/>
            <a:ext cx="4617720" cy="1572768"/>
          </a:xfrm>
          <a:prstGeom prst="roundRect">
            <a:avLst>
              <a:gd name="adj" fmla="val 3488"/>
            </a:avLst>
          </a:prstGeom>
          <a:solidFill>
            <a:srgbClr val="F7F9FB"/>
          </a:solidFill>
          <a:ln w="12700">
            <a:solidFill>
              <a:srgbClr val="D9E0E7"/>
            </a:solidFill>
            <a:prstDash val="solid"/>
          </a:ln>
        </p:spPr>
      </p:sp>
      <p:sp>
        <p:nvSpPr>
          <p:cNvPr id="27" name="Text 24"/>
          <p:cNvSpPr/>
          <p:nvPr/>
        </p:nvSpPr>
        <p:spPr>
          <a:xfrm>
            <a:off x="6245352" y="3602736"/>
            <a:ext cx="4288536" cy="182880"/>
          </a:xfrm>
          <a:prstGeom prst="rect">
            <a:avLst/>
          </a:prstGeom>
          <a:noFill/>
          <a:ln/>
        </p:spPr>
        <p:txBody>
          <a:bodyPr wrap="square" lIns="0" tIns="0" rIns="0" bIns="0" rtlCol="0" anchor="ctr"/>
          <a:lstStyle/>
          <a:p>
            <a:pPr indent="0" marL="0">
              <a:buNone/>
            </a:pPr>
            <a:r>
              <a:rPr lang="en-US" sz="1100" b="1" dirty="0">
                <a:solidFill>
                  <a:srgbClr val="3B7EA1"/>
                </a:solidFill>
                <a:latin typeface="Liberation Sans" pitchFamily="34" charset="0"/>
                <a:ea typeface="Liberation Sans" pitchFamily="34" charset="-122"/>
                <a:cs typeface="Liberation Sans" pitchFamily="34" charset="-120"/>
              </a:rPr>
              <a:t>If I had more time</a:t>
            </a:r>
            <a:endParaRPr lang="en-US" sz="1100" dirty="0"/>
          </a:p>
        </p:txBody>
      </p:sp>
      <p:sp>
        <p:nvSpPr>
          <p:cNvPr id="28" name="Text 25"/>
          <p:cNvSpPr/>
          <p:nvPr/>
        </p:nvSpPr>
        <p:spPr>
          <a:xfrm>
            <a:off x="6245352" y="3803904"/>
            <a:ext cx="4288536" cy="1115568"/>
          </a:xfrm>
          <a:prstGeom prst="rect">
            <a:avLst/>
          </a:prstGeom>
          <a:noFill/>
          <a:ln/>
        </p:spPr>
        <p:txBody>
          <a:bodyPr wrap="square" lIns="0" tIns="0" rIns="0" bIns="0" rtlCol="0" anchor="ctr"/>
          <a:lstStyle/>
          <a:p>
            <a:pPr indent="0" marL="0">
              <a:buNone/>
            </a:pPr>
            <a:r>
              <a:rPr lang="en-US" sz="1450" dirty="0">
                <a:solidFill>
                  <a:srgbClr val="243746"/>
                </a:solidFill>
                <a:latin typeface="Liberation Sans" pitchFamily="34" charset="0"/>
                <a:ea typeface="Liberation Sans" pitchFamily="34" charset="-122"/>
                <a:cs typeface="Liberation Sans" pitchFamily="34" charset="-120"/>
              </a:rPr>
              <a:t>Larger bounded splits</a:t>
            </a:r>
            <a:endParaRPr lang="en-US" sz="1450" dirty="0"/>
          </a:p>
          <a:p>
            <a:pPr indent="0" marL="0">
              <a:buNone/>
            </a:pPr>
            <a:r>
              <a:rPr lang="en-US" sz="1450" dirty="0">
                <a:solidFill>
                  <a:srgbClr val="243746"/>
                </a:solidFill>
                <a:latin typeface="Liberation Sans" pitchFamily="34" charset="0"/>
                <a:ea typeface="Liberation Sans" pitchFamily="34" charset="-122"/>
                <a:cs typeface="Liberation Sans" pitchFamily="34" charset="-120"/>
              </a:rPr>
              <a:t>more diverse candidate sets</a:t>
            </a:r>
            <a:endParaRPr lang="en-US" sz="1450" dirty="0"/>
          </a:p>
          <a:p>
            <a:pPr indent="0" marL="0">
              <a:buNone/>
            </a:pPr>
            <a:r>
              <a:rPr lang="en-US" sz="1450" dirty="0">
                <a:solidFill>
                  <a:srgbClr val="243746"/>
                </a:solidFill>
                <a:latin typeface="Liberation Sans" pitchFamily="34" charset="0"/>
                <a:ea typeface="Liberation Sans" pitchFamily="34" charset="-122"/>
                <a:cs typeface="Liberation Sans" pitchFamily="34" charset="-120"/>
              </a:rPr>
              <a:t>stronger entity-aware constraints</a:t>
            </a:r>
            <a:endParaRPr lang="en-US" sz="1450" dirty="0"/>
          </a:p>
          <a:p>
            <a:pPr indent="0" marL="0">
              <a:buNone/>
            </a:pPr>
            <a:r>
              <a:rPr lang="en-US" sz="1450" dirty="0">
                <a:solidFill>
                  <a:srgbClr val="243746"/>
                </a:solidFill>
                <a:latin typeface="Liberation Sans" pitchFamily="34" charset="0"/>
                <a:ea typeface="Liberation Sans" pitchFamily="34" charset="-122"/>
                <a:cs typeface="Liberation Sans" pitchFamily="34" charset="-120"/>
              </a:rPr>
              <a:t>external factuality checks</a:t>
            </a:r>
            <a:endParaRPr lang="en-US" sz="1450" dirty="0"/>
          </a:p>
        </p:txBody>
      </p:sp>
      <p:sp>
        <p:nvSpPr>
          <p:cNvPr id="29" name="Shape 26"/>
          <p:cNvSpPr/>
          <p:nvPr/>
        </p:nvSpPr>
        <p:spPr>
          <a:xfrm>
            <a:off x="749808" y="5486400"/>
            <a:ext cx="9948672" cy="438912"/>
          </a:xfrm>
          <a:prstGeom prst="roundRect">
            <a:avLst>
              <a:gd name="adj" fmla="val 10417"/>
            </a:avLst>
          </a:prstGeom>
          <a:solidFill>
            <a:srgbClr val="FFF8E6"/>
          </a:solidFill>
          <a:ln w="15240">
            <a:solidFill>
              <a:srgbClr val="FDB515"/>
            </a:solidFill>
            <a:prstDash val="solid"/>
          </a:ln>
        </p:spPr>
      </p:sp>
      <p:sp>
        <p:nvSpPr>
          <p:cNvPr id="30" name="Text 27"/>
          <p:cNvSpPr/>
          <p:nvPr/>
        </p:nvSpPr>
        <p:spPr>
          <a:xfrm>
            <a:off x="950976" y="5596128"/>
            <a:ext cx="9555480" cy="182880"/>
          </a:xfrm>
          <a:prstGeom prst="rect">
            <a:avLst/>
          </a:prstGeom>
          <a:noFill/>
          <a:ln/>
        </p:spPr>
        <p:txBody>
          <a:bodyPr wrap="square" lIns="0" tIns="0" rIns="0" bIns="0" rtlCol="0" anchor="ctr"/>
          <a:lstStyle/>
          <a:p>
            <a:pPr indent="0" marL="0">
              <a:buNone/>
            </a:pPr>
            <a:r>
              <a:rPr lang="en-US" sz="1350" b="1" dirty="0">
                <a:solidFill>
                  <a:srgbClr val="003262"/>
                </a:solidFill>
                <a:latin typeface="Liberation Sans" pitchFamily="34" charset="0"/>
                <a:ea typeface="Liberation Sans" pitchFamily="34" charset="-122"/>
                <a:cs typeface="Liberation Sans" pitchFamily="34" charset="-120"/>
              </a:rPr>
              <a:t>Final message: reranking improves factuality meaningfully, but entity grounding remains the hardest problem.</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2240280"/>
            <a:ext cx="12191695" cy="457200"/>
          </a:xfrm>
          <a:prstGeom prst="rect">
            <a:avLst/>
          </a:prstGeom>
          <a:noFill/>
          <a:ln/>
        </p:spPr>
        <p:txBody>
          <a:bodyPr wrap="square" lIns="0" tIns="0" rIns="0" bIns="0" rtlCol="0" anchor="ctr"/>
          <a:lstStyle/>
          <a:p>
            <a:pPr algn="ctr" indent="0" marL="0">
              <a:buNone/>
            </a:pPr>
            <a:r>
              <a:rPr lang="en-US" sz="2600" b="1" dirty="0">
                <a:solidFill>
                  <a:srgbClr val="5B5B5B"/>
                </a:solidFill>
                <a:latin typeface="Liberation Sans" pitchFamily="34" charset="0"/>
                <a:ea typeface="Liberation Sans" pitchFamily="34" charset="-122"/>
                <a:cs typeface="Liberation Sans" pitchFamily="34" charset="-120"/>
              </a:rPr>
              <a:t>Questions?</a:t>
            </a:r>
            <a:endParaRPr lang="en-US" sz="2600" dirty="0"/>
          </a:p>
        </p:txBody>
      </p:sp>
      <p:pic>
        <p:nvPicPr>
          <p:cNvPr id="3" name="Image 0" descr="/home/bjorn/repos/berkeley/factuality-rerank-xsum/docs/final-report/slides/assets/berkeley_soi_logo.png">    </p:cNvPr>
          <p:cNvPicPr>
            <a:picLocks noChangeAspect="1"/>
          </p:cNvPicPr>
          <p:nvPr/>
        </p:nvPicPr>
        <p:blipFill>
          <a:blip r:embed="rId1"/>
          <a:stretch>
            <a:fillRect/>
          </a:stretch>
        </p:blipFill>
        <p:spPr>
          <a:xfrm>
            <a:off x="530352" y="6100077"/>
            <a:ext cx="2240280" cy="4368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iberatio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Liberation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eration Sans"/>
        <a:ea typeface=""/>
        <a:cs typeface=""/>
        <a:font script="Jpan" typeface="游ゴシック"/>
        <a:font script="Hang" typeface="맑은 고딕"/>
        <a:font script="Hans" typeface="等线"/>
        <a:font script="Hant" typeface="新細明體"/>
        <a:font script="Arab" typeface="Liberation Sans"/>
        <a:font script="Hebr" typeface="Liberation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Liberation Sans"/>
        <a:font script="Uigh" typeface="Microsoft Uighur"/>
        <a:font script="Geor" typeface="Sylfaen"/>
        <a:font script="Armn" typeface="Liberation Sans"/>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Liberation Sans</vt:lpstr>
      <vt:lpstr>Calibri</vt:lpstr>
      <vt:lpstr>Office Theme</vt:lpstr>
      <vt:lpstr>Slide 1</vt:lpstr>
      <vt:lpstr>Slide 2</vt:lpstr>
      <vt:lpstr>Slide 3</vt:lpstr>
      <vt:lpstr>Slide 4</vt:lpstr>
      <vt:lpstr>Slide 5</vt:lpstr>
      <vt:lpstr>Slide 6</vt:lpstr>
      <vt:lpstr>Slide 7</vt:lpstr>
      <vt:lpstr>Slide 8</vt:lpstr>
    </vt:vector>
  </TitlesOfParts>
  <Company>UC Berkeley School of Information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Reranking Make XSum More Factual?</dc:title>
  <dc:subject>DS266 final project presentation</dc:subject>
  <dc:creator>Bjorn Melin</dc:creator>
  <cp:lastModifiedBy>Bjorn Melin</cp:lastModifiedBy>
  <cp:revision>1</cp:revision>
  <dcterms:created xsi:type="dcterms:W3CDTF">2026-04-14T23:32:31Z</dcterms:created>
  <dcterms:modified xsi:type="dcterms:W3CDTF">2026-04-14T23:32:31Z</dcterms:modified>
</cp:coreProperties>
</file>